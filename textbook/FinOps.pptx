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  <p:sldMasterId id="2147483672" r:id="rId2"/>
    <p:sldMasterId id="2147483674" r:id="rId3"/>
    <p:sldMasterId id="2147483703" r:id="rId4"/>
  </p:sldMasterIdLst>
  <p:notesMasterIdLst>
    <p:notesMasterId r:id="rId24"/>
  </p:notesMasterIdLst>
  <p:sldIdLst>
    <p:sldId id="309" r:id="rId5"/>
    <p:sldId id="475" r:id="rId6"/>
    <p:sldId id="415" r:id="rId7"/>
    <p:sldId id="416" r:id="rId8"/>
    <p:sldId id="428" r:id="rId9"/>
    <p:sldId id="417" r:id="rId10"/>
    <p:sldId id="419" r:id="rId11"/>
    <p:sldId id="420" r:id="rId12"/>
    <p:sldId id="423" r:id="rId13"/>
    <p:sldId id="421" r:id="rId14"/>
    <p:sldId id="424" r:id="rId15"/>
    <p:sldId id="422" r:id="rId16"/>
    <p:sldId id="427" r:id="rId17"/>
    <p:sldId id="425" r:id="rId18"/>
    <p:sldId id="426" r:id="rId19"/>
    <p:sldId id="429" r:id="rId20"/>
    <p:sldId id="430" r:id="rId21"/>
    <p:sldId id="431" r:id="rId22"/>
    <p:sldId id="289" r:id="rId23"/>
  </p:sldIdLst>
  <p:sldSz cx="14630400" cy="8229600"/>
  <p:notesSz cx="8229600" cy="14630400"/>
  <p:embeddedFontLst>
    <p:embeddedFont>
      <p:font typeface="Noto Sans KR" panose="020B0200000000000000" pitchFamily="34" charset="-128"/>
      <p:regular r:id="rId25"/>
      <p:bold r:id="rId26"/>
    </p:embeddedFont>
    <p:embeddedFont>
      <p:font typeface="맑은 고딕" panose="020B0503020000020004" pitchFamily="34" charset="-127"/>
      <p:regular r:id="rId27"/>
      <p:bold r:id="rId28"/>
    </p:embeddedFont>
    <p:embeddedFont>
      <p:font typeface="Pretendard" panose="02000503000000020004" pitchFamily="2" charset="-127"/>
      <p:regular r:id="rId29"/>
      <p:bold r:id="rId30"/>
    </p:embeddedFont>
    <p:embeddedFont>
      <p:font typeface="Pretendard Medium" panose="02000503000000020004" pitchFamily="2" charset="-127"/>
      <p:regular r:id="rId31"/>
    </p:embeddedFont>
    <p:embeddedFont>
      <p:font typeface="Pretendard SemiBold" panose="02000503000000020004" pitchFamily="2" charset="-127"/>
      <p:regular r:id="rId32"/>
      <p:bold r:id="rId3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A71FA5-5154-4132-B38F-2763AFEF8FA4}" v="53" dt="2026-01-18T17:21:09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51" d="100"/>
          <a:sy n="51" d="100"/>
        </p:scale>
        <p:origin x="36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해경 이" userId="9bcacacc13c6f9ce" providerId="LiveId" clId="{96CBA073-E0A0-41A8-83A5-127ABF4C0EDD}"/>
    <pc:docChg chg="custSel modSld">
      <pc:chgData name="해경 이" userId="9bcacacc13c6f9ce" providerId="LiveId" clId="{96CBA073-E0A0-41A8-83A5-127ABF4C0EDD}" dt="2026-01-18T17:21:09.038" v="561"/>
      <pc:docMkLst>
        <pc:docMk/>
      </pc:docMkLst>
      <pc:sldChg chg="addSp delSp modSp mod">
        <pc:chgData name="해경 이" userId="9bcacacc13c6f9ce" providerId="LiveId" clId="{96CBA073-E0A0-41A8-83A5-127ABF4C0EDD}" dt="2026-01-18T17:21:09.038" v="561"/>
        <pc:sldMkLst>
          <pc:docMk/>
          <pc:sldMk cId="364591433" sldId="282"/>
        </pc:sldMkLst>
        <pc:spChg chg="mod">
          <ac:chgData name="해경 이" userId="9bcacacc13c6f9ce" providerId="LiveId" clId="{96CBA073-E0A0-41A8-83A5-127ABF4C0EDD}" dt="2026-01-18T16:57:20.848" v="131" actId="1036"/>
          <ac:spMkLst>
            <pc:docMk/>
            <pc:sldMk cId="364591433" sldId="282"/>
            <ac:spMk id="5" creationId="{667E32B3-B2D5-7CF8-19CC-C5DA55D6C89B}"/>
          </ac:spMkLst>
        </pc:spChg>
        <pc:spChg chg="del">
          <ac:chgData name="해경 이" userId="9bcacacc13c6f9ce" providerId="LiveId" clId="{96CBA073-E0A0-41A8-83A5-127ABF4C0EDD}" dt="2026-01-18T16:53:27.439" v="17" actId="478"/>
          <ac:spMkLst>
            <pc:docMk/>
            <pc:sldMk cId="364591433" sldId="282"/>
            <ac:spMk id="6" creationId="{2855A39A-861A-9B0A-F59A-393C2C883C48}"/>
          </ac:spMkLst>
        </pc:spChg>
        <pc:spChg chg="del mod">
          <ac:chgData name="해경 이" userId="9bcacacc13c6f9ce" providerId="LiveId" clId="{96CBA073-E0A0-41A8-83A5-127ABF4C0EDD}" dt="2026-01-18T16:53:37.630" v="20" actId="478"/>
          <ac:spMkLst>
            <pc:docMk/>
            <pc:sldMk cId="364591433" sldId="282"/>
            <ac:spMk id="7" creationId="{7E13E82F-09D9-A562-0068-8F9873302AAB}"/>
          </ac:spMkLst>
        </pc:spChg>
        <pc:spChg chg="add mod">
          <ac:chgData name="해경 이" userId="9bcacacc13c6f9ce" providerId="LiveId" clId="{96CBA073-E0A0-41A8-83A5-127ABF4C0EDD}" dt="2026-01-18T17:05:04.459" v="227" actId="207"/>
          <ac:spMkLst>
            <pc:docMk/>
            <pc:sldMk cId="364591433" sldId="282"/>
            <ac:spMk id="12" creationId="{CEECCE16-B855-542E-250A-895B7C2ACBB9}"/>
          </ac:spMkLst>
        </pc:spChg>
        <pc:spChg chg="add mod">
          <ac:chgData name="해경 이" userId="9bcacacc13c6f9ce" providerId="LiveId" clId="{96CBA073-E0A0-41A8-83A5-127ABF4C0EDD}" dt="2026-01-18T17:04:43.279" v="224" actId="207"/>
          <ac:spMkLst>
            <pc:docMk/>
            <pc:sldMk cId="364591433" sldId="282"/>
            <ac:spMk id="14" creationId="{E1DF6783-C69B-DC33-5198-2C8CF82B01A1}"/>
          </ac:spMkLst>
        </pc:spChg>
        <pc:spChg chg="add mod">
          <ac:chgData name="해경 이" userId="9bcacacc13c6f9ce" providerId="LiveId" clId="{96CBA073-E0A0-41A8-83A5-127ABF4C0EDD}" dt="2026-01-18T17:21:09.038" v="561"/>
          <ac:spMkLst>
            <pc:docMk/>
            <pc:sldMk cId="364591433" sldId="282"/>
            <ac:spMk id="17" creationId="{5520B62A-F07E-AC35-8631-CF7FBDC0DE77}"/>
          </ac:spMkLst>
        </pc:spChg>
        <pc:spChg chg="mod">
          <ac:chgData name="해경 이" userId="9bcacacc13c6f9ce" providerId="LiveId" clId="{96CBA073-E0A0-41A8-83A5-127ABF4C0EDD}" dt="2026-01-18T17:04:09.301" v="222" actId="1076"/>
          <ac:spMkLst>
            <pc:docMk/>
            <pc:sldMk cId="364591433" sldId="282"/>
            <ac:spMk id="62" creationId="{59FB060E-4F2F-64FB-0590-31DC833CFE8E}"/>
          </ac:spMkLst>
        </pc:spChg>
        <pc:picChg chg="del">
          <ac:chgData name="해경 이" userId="9bcacacc13c6f9ce" providerId="LiveId" clId="{96CBA073-E0A0-41A8-83A5-127ABF4C0EDD}" dt="2026-01-18T16:53:17.178" v="14" actId="478"/>
          <ac:picMkLst>
            <pc:docMk/>
            <pc:sldMk cId="364591433" sldId="282"/>
            <ac:picMk id="4" creationId="{28B2E524-4BBF-7BE0-A18F-8BF1F87E647C}"/>
          </ac:picMkLst>
        </pc:picChg>
        <pc:picChg chg="add mod">
          <ac:chgData name="해경 이" userId="9bcacacc13c6f9ce" providerId="LiveId" clId="{96CBA073-E0A0-41A8-83A5-127ABF4C0EDD}" dt="2026-01-18T16:57:20.848" v="131" actId="1036"/>
          <ac:picMkLst>
            <pc:docMk/>
            <pc:sldMk cId="364591433" sldId="282"/>
            <ac:picMk id="8" creationId="{0912D662-1AFF-8ACE-B3DB-C8A5EC0C1C04}"/>
          </ac:picMkLst>
        </pc:picChg>
        <pc:picChg chg="add mod">
          <ac:chgData name="해경 이" userId="9bcacacc13c6f9ce" providerId="LiveId" clId="{96CBA073-E0A0-41A8-83A5-127ABF4C0EDD}" dt="2026-01-18T16:57:20.848" v="131" actId="1036"/>
          <ac:picMkLst>
            <pc:docMk/>
            <pc:sldMk cId="364591433" sldId="282"/>
            <ac:picMk id="10" creationId="{ECE48890-CC32-E7D6-330F-73B5BDF3179F}"/>
          </ac:picMkLst>
        </pc:picChg>
        <pc:cxnChg chg="add">
          <ac:chgData name="해경 이" userId="9bcacacc13c6f9ce" providerId="LiveId" clId="{96CBA073-E0A0-41A8-83A5-127ABF4C0EDD}" dt="2026-01-18T17:03:47.973" v="221" actId="11529"/>
          <ac:cxnSpMkLst>
            <pc:docMk/>
            <pc:sldMk cId="364591433" sldId="282"/>
            <ac:cxnSpMk id="16" creationId="{98EAE0D0-00D9-CD3B-6265-E3E9B98F1E3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937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4608" userDrawn="1">
          <p15:clr>
            <a:srgbClr val="F26B43"/>
          </p15:clr>
        </p15:guide>
        <p15:guide id="2" pos="259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12D5-58F7-5447-CC3A-1A50B3F8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12C4C-CA75-F1F1-BF9F-4D5707178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8595D-F76E-2524-4594-8A134B4C0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ECC7C-1273-5F21-7CBC-4D3D92BAAB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4941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14FB1-1A14-5A94-06AF-95B2958B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9F402-C1EC-A4A7-18B8-6BBF48ACB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88802-FB4D-2B84-381C-18141CF2D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86689-0394-AAC8-2575-1C4A6C1DE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2581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13C88-C731-A8B7-9BBF-FD3F6B32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12EBF-136E-EC73-0176-101C0C9EB3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2BEE0-6944-11AE-6F74-D50BAD517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E0A94-0AB7-4AC5-40A7-3A1D459DF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8033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50399-9D9E-D5E1-8436-65EA77A4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47BA0-8EEA-02E9-FF5F-9B849724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EEA5E1-2234-2F06-7BA3-F44121C64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2708-012D-4830-58B6-7CCD3ED9E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642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C849-8617-EFB9-FFD1-B0230EFE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C88D0-AEE1-64CA-FD2D-D7DB66098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76964-DD82-D96A-6226-F5402423A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65A5E-9F8D-070E-BE12-4B00B265F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2503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AF064-16C5-A201-A710-08B10ABE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454D9-9B24-460D-C54E-0D0592C11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2C7D7-3CD7-B7C0-C703-F7E457F8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4D5B8-0660-5DA6-B557-C191D2C6A2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27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0E2A-1F54-F198-4253-1662895F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A10FB-FD6A-160D-85C1-1837D374B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83535-F7E7-6747-D04A-E8A4F9EE7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8212-D87D-F0C9-057F-A5B71E03C4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4197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89F9A-5041-E79B-959C-98448126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6ED2D-E89E-F101-F155-CB87B9109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745F3-041E-0055-33B6-DE55E1181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35722-7444-6561-6FA4-0DE5AB21B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935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D743D-E5CE-4B34-6F0C-2311184C3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6A53F-913D-DE49-2B7F-F4E5F5031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B6D9E-66C5-A592-E0F9-547F168BD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15E58-D54D-8B2B-3FDF-9BC5EACDA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091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9410-B674-E747-12E2-E3D760959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05BAD-7A0A-F011-13B5-CF1DB354E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54E822-52D2-B9B2-1B15-1D86A63FD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8794-1945-92AB-EE1D-3CB0323203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866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5AAAD-C17D-A4F9-535F-BDA990E8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1AC7A-4B44-D731-EA82-91F966E7C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8BB9A-A54A-8525-6B7F-75E543181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09A0A-D463-4D29-8CDD-D66E189AB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001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E5E2-9A71-0CB8-2944-8FB8AB12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52DFD-37AD-CBF3-E984-9A949EF30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4B155-D55C-6ACB-25AE-D1C92CB77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CC9F-7A43-BFFA-6B69-DC6691E22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700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8E182-59FE-7FED-2183-B556F86E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A2D026-924F-3938-1F78-6700FB176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89E84-99C1-B8F3-7B98-7B539358D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DA197-AFA6-C302-345D-C9B846905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077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0827-7EE5-4D05-F224-3BA0A619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23E19-F2D2-A8E4-72F7-87D252102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8543A-8AC6-1FE1-1792-FAB073F9D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FD0D9-F312-471B-A86F-071DB2777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69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9034-EC60-54F2-84FD-9411F349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F5C3-C8BB-3DC9-BFD7-8D9D22DE2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0F5C7-DC49-2D68-AED5-7F2A2B7E2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4135A-7DAD-575B-E528-398CB2193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385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9B91-BE9A-203B-4BF4-4985224BA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0DCC10-27F9-9F9F-357A-0A4F2C0F4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F6333D-4B9F-FBD7-555A-D7A4C01BD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DD1FF-8C8F-61F2-C366-0A2A55066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95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1630" y="3524406"/>
            <a:ext cx="11407140" cy="1097280"/>
          </a:xfrm>
          <a:prstGeom prst="rect">
            <a:avLst/>
          </a:prstGeom>
        </p:spPr>
        <p:txBody>
          <a:bodyPr lIns="0" tIns="0" rIns="0" bIns="288000"/>
          <a:lstStyle>
            <a:lvl1pPr marL="0" indent="0">
              <a:buNone/>
              <a:defRPr sz="4320" b="1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32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강의명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 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(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한 줄 입력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)</a:t>
            </a:r>
            <a:endParaRPr kumimoji="1" lang="ko-Kore-KR" altLang="en-US" sz="432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503000000020004" pitchFamily="2" charset="-127"/>
              <a:ea typeface="Pretendard SemiBold" panose="02000503000000020004" pitchFamily="2" charset="-127"/>
              <a:cs typeface="+mn-cs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11629" y="4621686"/>
            <a:ext cx="114071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강사명</a:t>
            </a:r>
          </a:p>
        </p:txBody>
      </p:sp>
      <p:sp>
        <p:nvSpPr>
          <p:cNvPr id="20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6045200" y="7775887"/>
            <a:ext cx="2540000" cy="251795"/>
          </a:xfrm>
          <a:prstGeom prst="rect">
            <a:avLst/>
          </a:prstGeom>
        </p:spPr>
        <p:txBody>
          <a:bodyPr vert="horz" lIns="0" tIns="36000" rIns="0" bIns="0" rtlCol="0" anchor="ctr">
            <a:spAutoFit/>
          </a:bodyPr>
          <a:lstStyle>
            <a:lvl1pPr algn="ctr">
              <a:defRPr sz="1400" b="0" i="0">
                <a:solidFill>
                  <a:schemeClr val="bg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6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494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이틀(한 줄 입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1630" y="3524406"/>
            <a:ext cx="11407140" cy="1097280"/>
          </a:xfrm>
          <a:prstGeom prst="rect">
            <a:avLst/>
          </a:prstGeom>
        </p:spPr>
        <p:txBody>
          <a:bodyPr lIns="0" tIns="0" rIns="0" bIns="288000"/>
          <a:lstStyle>
            <a:lvl1pPr marL="0" indent="0">
              <a:buNone/>
              <a:defRPr sz="4320" b="1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32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강의명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 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(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한 줄 입력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)</a:t>
            </a:r>
            <a:endParaRPr kumimoji="1" lang="ko-Kore-KR" altLang="en-US" sz="432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503000000020004" pitchFamily="2" charset="-127"/>
              <a:ea typeface="Pretendard SemiBold" panose="02000503000000020004" pitchFamily="2" charset="-127"/>
              <a:cs typeface="+mn-cs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11629" y="4621686"/>
            <a:ext cx="114071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강사명</a:t>
            </a:r>
          </a:p>
        </p:txBody>
      </p:sp>
    </p:spTree>
    <p:extLst>
      <p:ext uri="{BB962C8B-B14F-4D97-AF65-F5344CB8AC3E}">
        <p14:creationId xmlns:p14="http://schemas.microsoft.com/office/powerpoint/2010/main" val="238494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상세 입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5E8E4F-043A-FC47-BE56-283CD16E559D}"/>
              </a:ext>
            </a:extLst>
          </p:cNvPr>
          <p:cNvSpPr txBox="1"/>
          <p:nvPr userDrawn="1"/>
        </p:nvSpPr>
        <p:spPr>
          <a:xfrm>
            <a:off x="445771" y="441960"/>
            <a:ext cx="291747" cy="203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1320" b="0" i="0" dirty="0">
                <a:ln w="5080">
                  <a:noFill/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50" charset="-127"/>
              </a:rPr>
              <a:t>목차</a:t>
            </a: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770" y="645092"/>
            <a:ext cx="13738860" cy="828899"/>
          </a:xfrm>
          <a:prstGeom prst="rect">
            <a:avLst/>
          </a:prstGeom>
        </p:spPr>
        <p:txBody>
          <a:bodyPr wrap="square" lIns="0" tIns="180000" rIns="0" bIns="180000">
            <a:spAutoFit/>
          </a:bodyPr>
          <a:lstStyle>
            <a:lvl1pPr>
              <a:defRPr sz="3360" b="1" i="0" baseline="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r>
              <a:rPr kumimoji="1" lang="ko-KR" altLang="en-US" dirty="0" err="1"/>
              <a:t>강의명</a:t>
            </a:r>
            <a:endParaRPr kumimoji="1" lang="ko-Kore-KR" altLang="en-US" dirty="0"/>
          </a:p>
        </p:txBody>
      </p:sp>
      <p:sp>
        <p:nvSpPr>
          <p:cNvPr id="9" name="텍스트 개체 틀 17">
            <a:extLst>
              <a:ext uri="{FF2B5EF4-FFF2-40B4-BE49-F238E27FC236}">
                <a16:creationId xmlns:a16="http://schemas.microsoft.com/office/drawing/2014/main" id="{160A5561-C96B-AE40-A00B-B26C600FD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770" y="1749802"/>
            <a:ext cx="13738860" cy="5834706"/>
          </a:xfrm>
          <a:prstGeom prst="rect">
            <a:avLst/>
          </a:prstGeom>
        </p:spPr>
        <p:txBody>
          <a:bodyPr wrap="square" lIns="0" tIns="0" rIns="0" bIns="0" numCol="2" spcCol="360000">
            <a:noAutofit/>
          </a:bodyPr>
          <a:lstStyle>
            <a:lvl1pPr marL="0" indent="0">
              <a:buFont typeface="Arial" panose="020B0604020202020204" pitchFamily="34" charset="0"/>
              <a:buNone/>
              <a:defRPr sz="1680" b="0" i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  <a:lvl2pPr marL="548640" indent="0">
              <a:buNone/>
              <a:defRPr/>
            </a:lvl2pPr>
          </a:lstStyle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1" lang="ko-KR" altLang="en-US" dirty="0"/>
              <a:t>내용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2)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1" lang="ko-KR" altLang="en-US" dirty="0"/>
              <a:t>내용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2)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r>
              <a:rPr kumimoji="1" lang="ko-KR" altLang="en-US" dirty="0"/>
              <a:t>내용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1)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2)</a:t>
            </a:r>
            <a:r>
              <a:rPr kumimoji="1" lang="ko-KR" altLang="en-US" dirty="0"/>
              <a:t> 입력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내용 입력</a:t>
            </a: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1" lang="en-US" altLang="ko-KR" dirty="0"/>
          </a:p>
          <a:p>
            <a:pPr marL="411480" marR="0" lvl="0" indent="-411480" algn="l" defTabSz="109728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rabicPeriod"/>
              <a:tabLst/>
              <a:defRPr/>
            </a:pPr>
            <a:endParaRPr kumimoji="1" lang="en-US" altLang="ko-KR" dirty="0"/>
          </a:p>
          <a:p>
            <a:pPr lvl="0"/>
            <a:endParaRPr kumimoji="1" lang="en-US" altLang="ko-KR" dirty="0"/>
          </a:p>
          <a:p>
            <a:pPr lvl="0"/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5661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1630" y="3782402"/>
            <a:ext cx="11407140" cy="664797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4320" b="1" i="0">
                <a:solidFill>
                  <a:srgbClr val="00B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레슨 명</a:t>
            </a:r>
            <a:endParaRPr kumimoji="1" lang="ko-Kore-KR" altLang="en-US" sz="432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503000000020004" pitchFamily="2" charset="-127"/>
              <a:ea typeface="Pretendard SemiBold" panose="02000503000000020004" pitchFamily="2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772" y="444907"/>
            <a:ext cx="4406264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8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강의명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3022" y="444907"/>
            <a:ext cx="9071608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8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SECTION </a:t>
            </a:r>
            <a:r>
              <a:rPr kumimoji="1" lang="ko-Kore-KR" altLang="en-US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27682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660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_단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567" y="99294"/>
            <a:ext cx="13738860" cy="828899"/>
          </a:xfrm>
          <a:prstGeom prst="rect">
            <a:avLst/>
          </a:prstGeom>
        </p:spPr>
        <p:txBody>
          <a:bodyPr wrap="square" lIns="0" tIns="180000" rIns="0" bIns="180000">
            <a:spAutoFit/>
          </a:bodyPr>
          <a:lstStyle>
            <a:lvl1pPr>
              <a:defRPr sz="3200" b="1" i="0" baseline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kumimoji="1" lang="ko-KR" altLang="en-US" dirty="0" err="1"/>
              <a:t>파트별</a:t>
            </a:r>
            <a:r>
              <a:rPr kumimoji="1" lang="ko-KR" altLang="en-US" dirty="0"/>
              <a:t> 소제목</a:t>
            </a:r>
            <a:endParaRPr kumimoji="1" lang="ko-Kore-KR" altLang="en-US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DDA118C-05D5-6480-770D-EAA836890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790" y="7787640"/>
            <a:ext cx="3291840" cy="228288"/>
          </a:xfrm>
          <a:prstGeom prst="rect">
            <a:avLst/>
          </a:prstGeom>
        </p:spPr>
        <p:txBody>
          <a:bodyPr vert="horz" lIns="0" tIns="36000" rIns="0" bIns="0" rtlCol="0" anchor="ctr">
            <a:spAutoFit/>
          </a:bodyPr>
          <a:lstStyle>
            <a:lvl1pPr algn="r">
              <a:defRPr sz="1200" b="0" i="0">
                <a:solidFill>
                  <a:schemeClr val="bg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5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407103BA-706F-CD5E-5D8C-CDBB2EFB70F6}"/>
              </a:ext>
            </a:extLst>
          </p:cNvPr>
          <p:cNvSpPr/>
          <p:nvPr userDrawn="1"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558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슨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53F5F21-2B28-AE43-9DA2-A7B0FC6B0A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1630" y="3782402"/>
            <a:ext cx="11407140" cy="664797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4320" b="1" i="0">
                <a:solidFill>
                  <a:srgbClr val="00B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레슨 명</a:t>
            </a:r>
            <a:endParaRPr kumimoji="1" lang="ko-Kore-KR" altLang="en-US" sz="432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503000000020004" pitchFamily="2" charset="-127"/>
              <a:ea typeface="Pretendard SemiBold" panose="02000503000000020004" pitchFamily="2" charset="-127"/>
              <a:cs typeface="+mn-cs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1DDAFE-F754-ED4C-B038-38E623E818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772" y="444907"/>
            <a:ext cx="4406264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8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강의명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B2EE320A-D5D4-304E-92E5-242A401C3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3022" y="444907"/>
            <a:ext cx="9071608" cy="2585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8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SECTION </a:t>
            </a:r>
            <a:r>
              <a:rPr kumimoji="1" lang="ko-Kore-KR" altLang="en-US" sz="168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156105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3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타이틀(한 줄 입력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6CB18B5-34B9-004A-8998-8E830A33D4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11630" y="3524406"/>
            <a:ext cx="11407140" cy="1097280"/>
          </a:xfrm>
          <a:prstGeom prst="rect">
            <a:avLst/>
          </a:prstGeom>
        </p:spPr>
        <p:txBody>
          <a:bodyPr lIns="0" tIns="0" rIns="0" bIns="288000"/>
          <a:lstStyle>
            <a:lvl1pPr marL="0" indent="0">
              <a:buNone/>
              <a:defRPr sz="4320" b="1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432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강의명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 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(</a:t>
            </a:r>
            <a:r>
              <a:rPr kumimoji="1" lang="ko-KR" altLang="en-US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한 줄 입력</a:t>
            </a:r>
            <a:r>
              <a:rPr kumimoji="1" lang="en-US" altLang="ko-KR" sz="432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503000000020004" pitchFamily="2" charset="-127"/>
                <a:ea typeface="Pretendard SemiBold" panose="02000503000000020004" pitchFamily="2" charset="-127"/>
                <a:cs typeface="+mn-cs"/>
              </a:rPr>
              <a:t>)</a:t>
            </a:r>
            <a:endParaRPr kumimoji="1" lang="ko-Kore-KR" altLang="en-US" sz="432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503000000020004" pitchFamily="2" charset="-127"/>
              <a:ea typeface="Pretendard SemiBold" panose="02000503000000020004" pitchFamily="2" charset="-127"/>
              <a:cs typeface="+mn-cs"/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1A66BF0-CFDB-6C4A-B293-18338A2FFF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11629" y="4621686"/>
            <a:ext cx="114071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0" i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ore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Pretendard Medium" panose="02000503000000020004" pitchFamily="2" charset="-127"/>
                <a:ea typeface="Pretendard Medium" panose="02000503000000020004" pitchFamily="2" charset="-127"/>
                <a:cs typeface="+mn-cs"/>
              </a:rPr>
              <a:t>강사명</a:t>
            </a:r>
          </a:p>
        </p:txBody>
      </p:sp>
      <p:sp>
        <p:nvSpPr>
          <p:cNvPr id="20" name="Slide Number Placeholder 20"/>
          <p:cNvSpPr>
            <a:spLocks noGrp="1"/>
          </p:cNvSpPr>
          <p:nvPr>
            <p:ph type="sldNum" sz="quarter" idx="4"/>
          </p:nvPr>
        </p:nvSpPr>
        <p:spPr>
          <a:xfrm>
            <a:off x="6045200" y="7775887"/>
            <a:ext cx="2540000" cy="251795"/>
          </a:xfrm>
          <a:prstGeom prst="rect">
            <a:avLst/>
          </a:prstGeom>
        </p:spPr>
        <p:txBody>
          <a:bodyPr vert="horz" lIns="0" tIns="36000" rIns="0" bIns="0" rtlCol="0" anchor="ctr">
            <a:spAutoFit/>
          </a:bodyPr>
          <a:lstStyle>
            <a:lvl1pPr algn="ctr">
              <a:defRPr sz="1400" b="0" i="0">
                <a:solidFill>
                  <a:schemeClr val="bg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6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279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강사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5E8E4F-043A-FC47-BE56-283CD16E559D}"/>
              </a:ext>
            </a:extLst>
          </p:cNvPr>
          <p:cNvSpPr txBox="1"/>
          <p:nvPr userDrawn="1"/>
        </p:nvSpPr>
        <p:spPr>
          <a:xfrm>
            <a:off x="445770" y="441960"/>
            <a:ext cx="583493" cy="2031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ko-KR" altLang="en-US" sz="1320" b="0" i="0" dirty="0" err="1">
                <a:ln w="5080">
                  <a:noFill/>
                </a:ln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50" charset="-127"/>
              </a:rPr>
              <a:t>강사소개</a:t>
            </a:r>
            <a:endParaRPr lang="ko-KR" altLang="en-US" sz="1320" b="0" i="0" dirty="0">
              <a:ln w="5080">
                <a:noFill/>
              </a:ln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50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1F567C2C-E8FD-074C-9A88-0B27279F61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770" y="645092"/>
            <a:ext cx="13738860" cy="828899"/>
          </a:xfrm>
          <a:prstGeom prst="rect">
            <a:avLst/>
          </a:prstGeom>
        </p:spPr>
        <p:txBody>
          <a:bodyPr wrap="square" lIns="0" tIns="180000" rIns="0" bIns="180000">
            <a:spAutoFit/>
          </a:bodyPr>
          <a:lstStyle>
            <a:lvl1pPr>
              <a:defRPr sz="3360" b="1" i="0" baseline="0"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r>
              <a:rPr kumimoji="1" lang="ko-KR" altLang="en-US" dirty="0" err="1"/>
              <a:t>강사명</a:t>
            </a:r>
            <a:endParaRPr kumimoji="1" lang="ko-Kore-KR" altLang="en-US" dirty="0"/>
          </a:p>
        </p:txBody>
      </p:sp>
      <p:sp>
        <p:nvSpPr>
          <p:cNvPr id="8" name="그림 개체 틀 11">
            <a:extLst>
              <a:ext uri="{FF2B5EF4-FFF2-40B4-BE49-F238E27FC236}">
                <a16:creationId xmlns:a16="http://schemas.microsoft.com/office/drawing/2014/main" id="{FE4EFD4D-95B9-154F-98C1-41A61DBF7D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5771" y="1749802"/>
            <a:ext cx="4406264" cy="5834706"/>
          </a:xfrm>
          <a:prstGeom prst="rect">
            <a:avLst/>
          </a:prstGeom>
        </p:spPr>
        <p:txBody>
          <a:bodyPr lIns="180000" tIns="180000" rIns="180000" bIns="180000"/>
          <a:lstStyle>
            <a:lvl1pPr marL="0" indent="0">
              <a:buNone/>
              <a:defRPr sz="2160" b="0" i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defRPr>
            </a:lvl1pPr>
          </a:lstStyle>
          <a:p>
            <a:r>
              <a:rPr kumimoji="1" lang="ko-Kore-KR" altLang="en-US" dirty="0"/>
              <a:t>강사</a:t>
            </a:r>
            <a:r>
              <a:rPr kumimoji="1" lang="ko-KR" altLang="en-US" dirty="0"/>
              <a:t> 이미지</a:t>
            </a:r>
            <a:endParaRPr kumimoji="1" lang="en-US" altLang="ko-KR" dirty="0"/>
          </a:p>
          <a:p>
            <a:r>
              <a:rPr kumimoji="1" lang="en-US" altLang="ko-KR" dirty="0"/>
              <a:t>13.51</a:t>
            </a:r>
            <a:r>
              <a:rPr kumimoji="1" lang="ko-KR" altLang="en-US" dirty="0"/>
              <a:t> </a:t>
            </a:r>
            <a:r>
              <a:rPr kumimoji="1" lang="en-US" altLang="ko-KR" dirty="0"/>
              <a:t>X 10.2 cm</a:t>
            </a:r>
            <a:endParaRPr kumimoji="1" lang="ko-Kore-KR" altLang="en-US" dirty="0"/>
          </a:p>
        </p:txBody>
      </p:sp>
      <p:sp>
        <p:nvSpPr>
          <p:cNvPr id="9" name="텍스트 개체 틀 17">
            <a:extLst>
              <a:ext uri="{FF2B5EF4-FFF2-40B4-BE49-F238E27FC236}">
                <a16:creationId xmlns:a16="http://schemas.microsoft.com/office/drawing/2014/main" id="{160A5561-C96B-AE40-A00B-B26C600FDB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11115" y="1749802"/>
            <a:ext cx="9073516" cy="583470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1920" b="0" i="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1920">
                <a:solidFill>
                  <a:schemeClr val="bg2">
                    <a:lumMod val="2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</a:lstStyle>
          <a:p>
            <a:pPr lvl="0"/>
            <a:r>
              <a:rPr kumimoji="1" lang="ko-KR" altLang="en-US" dirty="0"/>
              <a:t>이력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상세</a:t>
            </a:r>
            <a:endParaRPr kumimoji="1" lang="en-US" altLang="ko-KR" dirty="0"/>
          </a:p>
          <a:p>
            <a:pPr lvl="1"/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9DEADE-5478-8B45-A38A-E84DFA9F5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790" y="7787640"/>
            <a:ext cx="3291840" cy="228288"/>
          </a:xfrm>
          <a:prstGeom prst="rect">
            <a:avLst/>
          </a:prstGeom>
        </p:spPr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98643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06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9F470B4-9F94-4342-A82F-FD10569135EF}"/>
              </a:ext>
            </a:extLst>
          </p:cNvPr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B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216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0CC5AA-B0B5-FF4C-833B-2E01C84DA731}"/>
              </a:ext>
            </a:extLst>
          </p:cNvPr>
          <p:cNvSpPr txBox="1"/>
          <p:nvPr userDrawn="1"/>
        </p:nvSpPr>
        <p:spPr>
          <a:xfrm>
            <a:off x="445770" y="7343904"/>
            <a:ext cx="9771127" cy="4441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ko-KR" altLang="en-US" sz="1260" dirty="0" err="1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유니콘</a:t>
            </a:r>
            <a:r>
              <a:rPr lang="ko-KR" altLang="en-US" sz="1260" dirty="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주식회사</a:t>
            </a:r>
            <a:endParaRPr lang="en-US" altLang="ko-KR" sz="1260" dirty="0">
              <a:ln w="5080">
                <a:noFill/>
              </a:ln>
              <a:solidFill>
                <a:schemeClr val="bg1">
                  <a:lumMod val="9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>
              <a:lnSpc>
                <a:spcPct val="120000"/>
              </a:lnSpc>
            </a:pPr>
            <a:r>
              <a:rPr lang="en-US" altLang="ko-KR" sz="1260" dirty="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Copyright </a:t>
            </a:r>
            <a:r>
              <a:rPr lang="ko-KR" altLang="en-US" sz="1260" dirty="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ⓒ </a:t>
            </a:r>
            <a:r>
              <a:rPr lang="en-US" altLang="ko-KR" sz="1260" dirty="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Unicorn Corp. All Rights Reserved.</a:t>
            </a:r>
            <a:r>
              <a:rPr lang="ko-KR" altLang="en-US" sz="1260" dirty="0">
                <a:ln w="5080">
                  <a:noFill/>
                </a:ln>
                <a:solidFill>
                  <a:schemeClr val="bg1">
                    <a:lumMod val="9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무단전재 및 배포금지</a:t>
            </a:r>
          </a:p>
        </p:txBody>
      </p:sp>
    </p:spTree>
    <p:extLst>
      <p:ext uri="{BB962C8B-B14F-4D97-AF65-F5344CB8AC3E}">
        <p14:creationId xmlns:p14="http://schemas.microsoft.com/office/powerpoint/2010/main" val="66733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62" r:id="rId2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234">
          <p15:clr>
            <a:srgbClr val="A4A3A4"/>
          </p15:clr>
        </p15:guide>
        <p15:guide id="6" pos="7446">
          <p15:clr>
            <a:srgbClr val="A4A3A4"/>
          </p15:clr>
        </p15:guide>
        <p15:guide id="7" pos="3908">
          <p15:clr>
            <a:srgbClr val="5ACBF0"/>
          </p15:clr>
        </p15:guide>
        <p15:guide id="8" pos="3772">
          <p15:clr>
            <a:srgbClr val="5ACBF0"/>
          </p15:clr>
        </p15:guide>
        <p15:guide id="9" pos="3296">
          <p15:clr>
            <a:srgbClr val="5ACBF0"/>
          </p15:clr>
        </p15:guide>
        <p15:guide id="10" pos="4384">
          <p15:clr>
            <a:srgbClr val="5ACBF0"/>
          </p15:clr>
        </p15:guide>
        <p15:guide id="11" pos="3160">
          <p15:clr>
            <a:srgbClr val="5ACBF0"/>
          </p15:clr>
        </p15:guide>
        <p15:guide id="12" pos="4520">
          <p15:clr>
            <a:srgbClr val="5ACBF0"/>
          </p15:clr>
        </p15:guide>
        <p15:guide id="13" pos="2683">
          <p15:clr>
            <a:srgbClr val="5ACBF0"/>
          </p15:clr>
        </p15:guide>
        <p15:guide id="14" pos="2547">
          <p15:clr>
            <a:srgbClr val="5ACBF0"/>
          </p15:clr>
        </p15:guide>
        <p15:guide id="15" pos="4997">
          <p15:clr>
            <a:srgbClr val="5ACBF0"/>
          </p15:clr>
        </p15:guide>
        <p15:guide id="16" pos="5133">
          <p15:clr>
            <a:srgbClr val="5ACBF0"/>
          </p15:clr>
        </p15:guide>
        <p15:guide id="17" pos="2071">
          <p15:clr>
            <a:srgbClr val="5ACBF0"/>
          </p15:clr>
        </p15:guide>
        <p15:guide id="18" pos="1935">
          <p15:clr>
            <a:srgbClr val="5ACBF0"/>
          </p15:clr>
        </p15:guide>
        <p15:guide id="19" pos="5609">
          <p15:clr>
            <a:srgbClr val="5ACBF0"/>
          </p15:clr>
        </p15:guide>
        <p15:guide id="20" pos="5745">
          <p15:clr>
            <a:srgbClr val="5ACBF0"/>
          </p15:clr>
        </p15:guide>
        <p15:guide id="21" pos="6221">
          <p15:clr>
            <a:srgbClr val="5ACBF0"/>
          </p15:clr>
        </p15:guide>
        <p15:guide id="22" pos="6357">
          <p15:clr>
            <a:srgbClr val="5ACBF0"/>
          </p15:clr>
        </p15:guide>
        <p15:guide id="23" pos="1459">
          <p15:clr>
            <a:srgbClr val="5ACBF0"/>
          </p15:clr>
        </p15:guide>
        <p15:guide id="24" pos="1323">
          <p15:clr>
            <a:srgbClr val="5ACBF0"/>
          </p15:clr>
        </p15:guide>
        <p15:guide id="25" pos="846">
          <p15:clr>
            <a:srgbClr val="5ACBF0"/>
          </p15:clr>
        </p15:guide>
        <p15:guide id="26" pos="710">
          <p15:clr>
            <a:srgbClr val="5ACBF0"/>
          </p15:clr>
        </p15:guide>
        <p15:guide id="27" pos="6834">
          <p15:clr>
            <a:srgbClr val="5ACBF0"/>
          </p15:clr>
        </p15:guide>
        <p15:guide id="28" pos="6970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355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3" r:id="rId2"/>
    <p:sldLayoutId id="2147483690" r:id="rId3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234">
          <p15:clr>
            <a:srgbClr val="A4A3A4"/>
          </p15:clr>
        </p15:guide>
        <p15:guide id="6" pos="7446">
          <p15:clr>
            <a:srgbClr val="A4A3A4"/>
          </p15:clr>
        </p15:guide>
        <p15:guide id="7" pos="3908">
          <p15:clr>
            <a:srgbClr val="5ACBF0"/>
          </p15:clr>
        </p15:guide>
        <p15:guide id="8" pos="3772">
          <p15:clr>
            <a:srgbClr val="5ACBF0"/>
          </p15:clr>
        </p15:guide>
        <p15:guide id="9" pos="3296">
          <p15:clr>
            <a:srgbClr val="5ACBF0"/>
          </p15:clr>
        </p15:guide>
        <p15:guide id="10" pos="4384">
          <p15:clr>
            <a:srgbClr val="5ACBF0"/>
          </p15:clr>
        </p15:guide>
        <p15:guide id="11" pos="3160">
          <p15:clr>
            <a:srgbClr val="5ACBF0"/>
          </p15:clr>
        </p15:guide>
        <p15:guide id="12" pos="4520">
          <p15:clr>
            <a:srgbClr val="5ACBF0"/>
          </p15:clr>
        </p15:guide>
        <p15:guide id="13" pos="2683">
          <p15:clr>
            <a:srgbClr val="5ACBF0"/>
          </p15:clr>
        </p15:guide>
        <p15:guide id="14" pos="2547">
          <p15:clr>
            <a:srgbClr val="5ACBF0"/>
          </p15:clr>
        </p15:guide>
        <p15:guide id="15" pos="4997">
          <p15:clr>
            <a:srgbClr val="5ACBF0"/>
          </p15:clr>
        </p15:guide>
        <p15:guide id="16" pos="5133">
          <p15:clr>
            <a:srgbClr val="5ACBF0"/>
          </p15:clr>
        </p15:guide>
        <p15:guide id="17" pos="2071">
          <p15:clr>
            <a:srgbClr val="5ACBF0"/>
          </p15:clr>
        </p15:guide>
        <p15:guide id="18" pos="1935">
          <p15:clr>
            <a:srgbClr val="5ACBF0"/>
          </p15:clr>
        </p15:guide>
        <p15:guide id="19" pos="5609">
          <p15:clr>
            <a:srgbClr val="5ACBF0"/>
          </p15:clr>
        </p15:guide>
        <p15:guide id="20" pos="5745">
          <p15:clr>
            <a:srgbClr val="5ACBF0"/>
          </p15:clr>
        </p15:guide>
        <p15:guide id="21" pos="6221">
          <p15:clr>
            <a:srgbClr val="5ACBF0"/>
          </p15:clr>
        </p15:guide>
        <p15:guide id="22" pos="6357">
          <p15:clr>
            <a:srgbClr val="5ACBF0"/>
          </p15:clr>
        </p15:guide>
        <p15:guide id="23" pos="1459">
          <p15:clr>
            <a:srgbClr val="5ACBF0"/>
          </p15:clr>
        </p15:guide>
        <p15:guide id="24" pos="1323">
          <p15:clr>
            <a:srgbClr val="5ACBF0"/>
          </p15:clr>
        </p15:guide>
        <p15:guide id="25" pos="846">
          <p15:clr>
            <a:srgbClr val="5ACBF0"/>
          </p15:clr>
        </p15:guide>
        <p15:guide id="26" pos="710">
          <p15:clr>
            <a:srgbClr val="5ACBF0"/>
          </p15:clr>
        </p15:guide>
        <p15:guide id="27" pos="6834">
          <p15:clr>
            <a:srgbClr val="5ACBF0"/>
          </p15:clr>
        </p15:guide>
        <p15:guide id="28" pos="6970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791BBE-66E3-4442-970C-F4A0E0147611}"/>
              </a:ext>
            </a:extLst>
          </p:cNvPr>
          <p:cNvSpPr txBox="1"/>
          <p:nvPr userDrawn="1"/>
        </p:nvSpPr>
        <p:spPr>
          <a:xfrm>
            <a:off x="445771" y="7787686"/>
            <a:ext cx="1531573" cy="247139"/>
          </a:xfrm>
          <a:prstGeom prst="rect">
            <a:avLst/>
          </a:prstGeom>
        </p:spPr>
        <p:txBody>
          <a:bodyPr vert="horz" lIns="0" tIns="43200" rIns="0" bIns="0" rtlCol="0" anchor="ctr">
            <a:spAutoFit/>
          </a:bodyPr>
          <a:lstStyle>
            <a:defPPr>
              <a:defRPr lang="ko-Kore-KR"/>
            </a:defPPr>
            <a:lvl1pPr marR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i="0">
                <a:ln w="5080">
                  <a:noFill/>
                </a:ln>
                <a:solidFill>
                  <a:srgbClr val="E7E6E6">
                    <a:lumMod val="75000"/>
                  </a:srgb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50" charset="-127"/>
              </a:defRPr>
            </a:lvl1pPr>
          </a:lstStyle>
          <a:p>
            <a:pPr lvl="0"/>
            <a:r>
              <a:rPr lang="ko-KR" altLang="en-US" sz="1200" b="0" i="0" noProof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무단전재 및 배포 금지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5222549-9B6D-AE4D-BB3C-20284003E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790" y="7787640"/>
            <a:ext cx="3291840" cy="228288"/>
          </a:xfrm>
          <a:prstGeom prst="rect">
            <a:avLst/>
          </a:prstGeom>
        </p:spPr>
        <p:txBody>
          <a:bodyPr vert="horz" lIns="0" tIns="36000" rIns="0" bIns="0" rtlCol="0" anchor="ctr">
            <a:spAutoFit/>
          </a:bodyPr>
          <a:lstStyle>
            <a:lvl1pPr algn="r">
              <a:defRPr sz="1200" b="0" i="0">
                <a:solidFill>
                  <a:schemeClr val="bg2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fld id="{5D069905-AE10-E849-B625-D412908E376F}" type="slidenum">
              <a:rPr kumimoji="1" lang="ko-Kore-KR" altLang="en-US" smtClean="0"/>
              <a:pPr/>
              <a:t>‹#›</a:t>
            </a:fld>
            <a:endParaRPr kumimoji="1" lang="ko-Kore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00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234">
          <p15:clr>
            <a:srgbClr val="A4A3A4"/>
          </p15:clr>
        </p15:guide>
        <p15:guide id="6" pos="7446">
          <p15:clr>
            <a:srgbClr val="A4A3A4"/>
          </p15:clr>
        </p15:guide>
        <p15:guide id="7" pos="3908">
          <p15:clr>
            <a:srgbClr val="5ACBF0"/>
          </p15:clr>
        </p15:guide>
        <p15:guide id="8" pos="3769" userDrawn="1">
          <p15:clr>
            <a:srgbClr val="5ACBF0"/>
          </p15:clr>
        </p15:guide>
        <p15:guide id="9" pos="3296">
          <p15:clr>
            <a:srgbClr val="5ACBF0"/>
          </p15:clr>
        </p15:guide>
        <p15:guide id="10" pos="4384">
          <p15:clr>
            <a:srgbClr val="5ACBF0"/>
          </p15:clr>
        </p15:guide>
        <p15:guide id="11" pos="3160">
          <p15:clr>
            <a:srgbClr val="5ACBF0"/>
          </p15:clr>
        </p15:guide>
        <p15:guide id="12" pos="4520">
          <p15:clr>
            <a:srgbClr val="5ACBF0"/>
          </p15:clr>
        </p15:guide>
        <p15:guide id="13" pos="2683">
          <p15:clr>
            <a:srgbClr val="5ACBF0"/>
          </p15:clr>
        </p15:guide>
        <p15:guide id="14" pos="2547">
          <p15:clr>
            <a:srgbClr val="5ACBF0"/>
          </p15:clr>
        </p15:guide>
        <p15:guide id="15" pos="4997">
          <p15:clr>
            <a:srgbClr val="5ACBF0"/>
          </p15:clr>
        </p15:guide>
        <p15:guide id="16" pos="5133">
          <p15:clr>
            <a:srgbClr val="5ACBF0"/>
          </p15:clr>
        </p15:guide>
        <p15:guide id="17" pos="2071">
          <p15:clr>
            <a:srgbClr val="5ACBF0"/>
          </p15:clr>
        </p15:guide>
        <p15:guide id="18" pos="1935">
          <p15:clr>
            <a:srgbClr val="5ACBF0"/>
          </p15:clr>
        </p15:guide>
        <p15:guide id="19" pos="5609">
          <p15:clr>
            <a:srgbClr val="5ACBF0"/>
          </p15:clr>
        </p15:guide>
        <p15:guide id="20" pos="5745">
          <p15:clr>
            <a:srgbClr val="5ACBF0"/>
          </p15:clr>
        </p15:guide>
        <p15:guide id="21" pos="6221">
          <p15:clr>
            <a:srgbClr val="5ACBF0"/>
          </p15:clr>
        </p15:guide>
        <p15:guide id="22" pos="6357">
          <p15:clr>
            <a:srgbClr val="5ACBF0"/>
          </p15:clr>
        </p15:guide>
        <p15:guide id="23" pos="1459">
          <p15:clr>
            <a:srgbClr val="5ACBF0"/>
          </p15:clr>
        </p15:guide>
        <p15:guide id="24" pos="1323">
          <p15:clr>
            <a:srgbClr val="5ACBF0"/>
          </p15:clr>
        </p15:guide>
        <p15:guide id="25" pos="846">
          <p15:clr>
            <a:srgbClr val="5ACBF0"/>
          </p15:clr>
        </p15:guide>
        <p15:guide id="26" pos="710">
          <p15:clr>
            <a:srgbClr val="5ACBF0"/>
          </p15:clr>
        </p15:guide>
        <p15:guide id="27" pos="6834">
          <p15:clr>
            <a:srgbClr val="5ACBF0"/>
          </p15:clr>
        </p15:guide>
        <p15:guide id="28" pos="6970">
          <p15:clr>
            <a:srgbClr val="5ACBF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8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234">
          <p15:clr>
            <a:srgbClr val="A4A3A4"/>
          </p15:clr>
        </p15:guide>
        <p15:guide id="6" pos="7446">
          <p15:clr>
            <a:srgbClr val="A4A3A4"/>
          </p15:clr>
        </p15:guide>
        <p15:guide id="7" pos="3908">
          <p15:clr>
            <a:srgbClr val="5ACBF0"/>
          </p15:clr>
        </p15:guide>
        <p15:guide id="8" pos="3772">
          <p15:clr>
            <a:srgbClr val="5ACBF0"/>
          </p15:clr>
        </p15:guide>
        <p15:guide id="9" pos="3296">
          <p15:clr>
            <a:srgbClr val="5ACBF0"/>
          </p15:clr>
        </p15:guide>
        <p15:guide id="10" pos="4384">
          <p15:clr>
            <a:srgbClr val="5ACBF0"/>
          </p15:clr>
        </p15:guide>
        <p15:guide id="11" pos="3160">
          <p15:clr>
            <a:srgbClr val="5ACBF0"/>
          </p15:clr>
        </p15:guide>
        <p15:guide id="12" pos="4520">
          <p15:clr>
            <a:srgbClr val="5ACBF0"/>
          </p15:clr>
        </p15:guide>
        <p15:guide id="13" pos="2683">
          <p15:clr>
            <a:srgbClr val="5ACBF0"/>
          </p15:clr>
        </p15:guide>
        <p15:guide id="14" pos="2547">
          <p15:clr>
            <a:srgbClr val="5ACBF0"/>
          </p15:clr>
        </p15:guide>
        <p15:guide id="15" pos="4997">
          <p15:clr>
            <a:srgbClr val="5ACBF0"/>
          </p15:clr>
        </p15:guide>
        <p15:guide id="16" pos="5133">
          <p15:clr>
            <a:srgbClr val="5ACBF0"/>
          </p15:clr>
        </p15:guide>
        <p15:guide id="17" pos="2071">
          <p15:clr>
            <a:srgbClr val="5ACBF0"/>
          </p15:clr>
        </p15:guide>
        <p15:guide id="18" pos="1935">
          <p15:clr>
            <a:srgbClr val="5ACBF0"/>
          </p15:clr>
        </p15:guide>
        <p15:guide id="19" pos="5609">
          <p15:clr>
            <a:srgbClr val="5ACBF0"/>
          </p15:clr>
        </p15:guide>
        <p15:guide id="20" pos="5745">
          <p15:clr>
            <a:srgbClr val="5ACBF0"/>
          </p15:clr>
        </p15:guide>
        <p15:guide id="21" pos="6221">
          <p15:clr>
            <a:srgbClr val="5ACBF0"/>
          </p15:clr>
        </p15:guide>
        <p15:guide id="22" pos="6357">
          <p15:clr>
            <a:srgbClr val="5ACBF0"/>
          </p15:clr>
        </p15:guide>
        <p15:guide id="23" pos="1459">
          <p15:clr>
            <a:srgbClr val="5ACBF0"/>
          </p15:clr>
        </p15:guide>
        <p15:guide id="24" pos="1323">
          <p15:clr>
            <a:srgbClr val="5ACBF0"/>
          </p15:clr>
        </p15:guide>
        <p15:guide id="25" pos="846">
          <p15:clr>
            <a:srgbClr val="5ACBF0"/>
          </p15:clr>
        </p15:guide>
        <p15:guide id="26" pos="710">
          <p15:clr>
            <a:srgbClr val="5ACBF0"/>
          </p15:clr>
        </p15:guide>
        <p15:guide id="27" pos="6834">
          <p15:clr>
            <a:srgbClr val="5ACBF0"/>
          </p15:clr>
        </p15:guide>
        <p15:guide id="28" pos="6970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github.com/unicorn-plugins/courseware/blob/main/references/finops/external/%EC%9A%B0%EC%95%84%ED%95%9C%20Cloud%20FinOps%20%EC%97%AC%EC%A0%95.pdf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nicorn-plugins/courseware/blob/main/references/finops/external/State%20of%20FinOps%202026%20%E2%80%94%20%ED%95%B5%EC%8B%AC%20%EC%9D%B8%EC%82%AC%EC%9D%B4%ED%8A%B8%20%EB%8C%80%EC%8B%9C%EB%B3%B4%EB%93%9C.pdf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unicorn-plugins/courseware/blob/main/references/finops/external/%EC%9A%B0%EC%95%84%ED%95%9C%20Cloud%20FinOps%20%EC%97%AC%EC%A0%95.pdf" TargetMode="Externa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64AA2DC-4F49-A8BE-997C-85889A4204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altLang="ko-KR" sz="4400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</a:t>
            </a:r>
            <a:r>
              <a:rPr lang="ko-KR" altLang="en-US" sz="4400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이해</a:t>
            </a:r>
            <a:r>
              <a:rPr lang="en-US" altLang="ko-KR" sz="4400" dirty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2329C88-E591-743C-2574-E964D0BECE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11629" y="5024637"/>
            <a:ext cx="11407140" cy="332399"/>
          </a:xfrm>
        </p:spPr>
        <p:txBody>
          <a:bodyPr/>
          <a:lstStyle/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이해경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5CE93DE-2CF1-BF92-9461-43536283E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069905-AE10-E849-B625-D412908E376F}" type="slidenum">
              <a:rPr kumimoji="1" lang="ko-Kore-KR" altLang="en-US" smtClean="0"/>
              <a:pPr/>
              <a:t>1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6057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8229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2064" y="432093"/>
            <a:ext cx="1053389" cy="409651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12064" y="432093"/>
            <a:ext cx="10533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2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  <a:endParaRPr kumimoji="0" lang="en-US" sz="19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26387" y="248717"/>
            <a:ext cx="1170432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 핵심 이해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12064" y="1243584"/>
            <a:ext cx="1360627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59245" y="1419149"/>
            <a:ext cx="0" cy="6217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2064" y="1419149"/>
            <a:ext cx="73152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7629" y="1419149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40" b="1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강의 목표</a:t>
            </a:r>
            <a:endParaRPr kumimoji="0" lang="en-US" sz="22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" y="2048255"/>
            <a:ext cx="6027725" cy="5493005"/>
          </a:xfrm>
          <a:prstGeom prst="roundRect">
            <a:avLst>
              <a:gd name="adj" fmla="val 4348"/>
            </a:avLst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5411" y="2410029"/>
            <a:ext cx="5501030" cy="4546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FinOps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정의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원칙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운영 프레임워크를 이해함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Inform → Optimize → Operate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순환 </a:t>
            </a:r>
            <a:b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 실제 조직 운영 관점으로 해석함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태그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비용 할당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 비용 탐지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b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Right-sizing,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약정 할인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KPI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실무에 </a:t>
            </a:r>
            <a:b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적용할 수 있음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FinOps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성숙도와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2025-2026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0506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프레임워크 변화를 반영하여 조직 개선 과제를 도출함</a:t>
            </a:r>
          </a:p>
        </p:txBody>
      </p:sp>
      <p:sp>
        <p:nvSpPr>
          <p:cNvPr id="18" name="Shape 16"/>
          <p:cNvSpPr/>
          <p:nvPr/>
        </p:nvSpPr>
        <p:spPr>
          <a:xfrm>
            <a:off x="6993331" y="1419149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68896" y="1419149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40" b="1" i="0" u="none" strike="noStrike" kern="1200" cap="none" spc="0" normalizeH="0" baseline="0" noProof="0" dirty="0">
                <a:ln>
                  <a:noFill/>
                </a:ln>
                <a:solidFill>
                  <a:srgbClr val="2C2926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커리큘럼</a:t>
            </a:r>
            <a:endParaRPr kumimoji="0" lang="en-US" sz="22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C08B5FA-F5EE-262A-8D9A-B4343D2127DE}"/>
              </a:ext>
            </a:extLst>
          </p:cNvPr>
          <p:cNvGrpSpPr/>
          <p:nvPr/>
        </p:nvGrpSpPr>
        <p:grpSpPr>
          <a:xfrm>
            <a:off x="6993331" y="2048256"/>
            <a:ext cx="7125005" cy="936000"/>
            <a:chOff x="6993331" y="2048256"/>
            <a:chExt cx="7125005" cy="731520"/>
          </a:xfrm>
        </p:grpSpPr>
        <p:sp>
          <p:nvSpPr>
            <p:cNvPr id="20" name="Shape 18"/>
            <p:cNvSpPr/>
            <p:nvPr/>
          </p:nvSpPr>
          <p:spPr>
            <a:xfrm>
              <a:off x="6993331" y="2048256"/>
              <a:ext cx="7125005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DDDE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7198157" y="2194560"/>
              <a:ext cx="585216" cy="438912"/>
            </a:xfrm>
            <a:prstGeom prst="roundRect">
              <a:avLst>
                <a:gd name="adj" fmla="val 16667"/>
              </a:avLst>
            </a:prstGeom>
            <a:solidFill>
              <a:srgbClr val="4472C4"/>
            </a:solidFill>
            <a:ln w="12700">
              <a:solidFill>
                <a:srgbClr val="4472C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7198157" y="2194560"/>
              <a:ext cx="5852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7958938" y="2414016"/>
              <a:ext cx="0" cy="0"/>
            </a:xfrm>
            <a:prstGeom prst="line">
              <a:avLst/>
            </a:prstGeom>
            <a:noFill/>
            <a:ln w="12700">
              <a:solidFill>
                <a:srgbClr val="4472C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958938" y="2077517"/>
              <a:ext cx="5925312" cy="67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50506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FinOps </a:t>
              </a:r>
              <a:r>
                <a:rPr lang="ko-KR" altLang="en-US" dirty="0">
                  <a:solidFill>
                    <a:srgbClr val="50506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개요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7CAB5E10-994D-4B4B-425A-EB618C18FDCC}"/>
              </a:ext>
            </a:extLst>
          </p:cNvPr>
          <p:cNvGrpSpPr/>
          <p:nvPr/>
        </p:nvGrpSpPr>
        <p:grpSpPr>
          <a:xfrm>
            <a:off x="6993331" y="3175858"/>
            <a:ext cx="7125005" cy="936000"/>
            <a:chOff x="6993331" y="2867558"/>
            <a:chExt cx="7125005" cy="731520"/>
          </a:xfrm>
        </p:grpSpPr>
        <p:sp>
          <p:nvSpPr>
            <p:cNvPr id="25" name="Shape 23"/>
            <p:cNvSpPr/>
            <p:nvPr/>
          </p:nvSpPr>
          <p:spPr>
            <a:xfrm>
              <a:off x="6993331" y="2867558"/>
              <a:ext cx="7125005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DDDE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198157" y="3013862"/>
              <a:ext cx="585216" cy="438912"/>
            </a:xfrm>
            <a:prstGeom prst="roundRect">
              <a:avLst>
                <a:gd name="adj" fmla="val 16667"/>
              </a:avLst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198157" y="3013862"/>
              <a:ext cx="5852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7958938" y="3233318"/>
              <a:ext cx="0" cy="0"/>
            </a:xfrm>
            <a:prstGeom prst="line">
              <a:avLst/>
            </a:prstGeom>
            <a:noFill/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958938" y="2896819"/>
              <a:ext cx="5925312" cy="67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Inform: </a:t>
              </a:r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비용 가시화와 태그 기반 할당</a:t>
              </a:r>
              <a:r>
                <a:rPr lang="en-US" dirty="0">
                  <a:solidFill>
                    <a:srgbClr val="50506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	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167C6FE-97BE-9800-96F4-B35DAC3EA50D}"/>
              </a:ext>
            </a:extLst>
          </p:cNvPr>
          <p:cNvGrpSpPr/>
          <p:nvPr/>
        </p:nvGrpSpPr>
        <p:grpSpPr>
          <a:xfrm>
            <a:off x="6993331" y="4303460"/>
            <a:ext cx="7125005" cy="936000"/>
            <a:chOff x="6993331" y="3686861"/>
            <a:chExt cx="7125005" cy="731520"/>
          </a:xfrm>
        </p:grpSpPr>
        <p:sp>
          <p:nvSpPr>
            <p:cNvPr id="30" name="Shape 28"/>
            <p:cNvSpPr/>
            <p:nvPr/>
          </p:nvSpPr>
          <p:spPr>
            <a:xfrm>
              <a:off x="6993331" y="3686861"/>
              <a:ext cx="7125005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DDDE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7198157" y="3833165"/>
              <a:ext cx="585216" cy="438912"/>
            </a:xfrm>
            <a:prstGeom prst="roundRect">
              <a:avLst>
                <a:gd name="adj" fmla="val 16667"/>
              </a:avLst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7198157" y="3833165"/>
              <a:ext cx="5852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7958938" y="4052621"/>
              <a:ext cx="0" cy="0"/>
            </a:xfrm>
            <a:prstGeom prst="line">
              <a:avLst/>
            </a:prstGeom>
            <a:noFill/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7958938" y="3716122"/>
              <a:ext cx="5925312" cy="67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Optimize: </a:t>
              </a:r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미사용 리소스 제거와 </a:t>
              </a:r>
              <a:r>
                <a:rPr lang="en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Right-sizing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005C87F-278E-E8FF-2FEA-C5DFEB5C0CE8}"/>
              </a:ext>
            </a:extLst>
          </p:cNvPr>
          <p:cNvGrpSpPr/>
          <p:nvPr/>
        </p:nvGrpSpPr>
        <p:grpSpPr>
          <a:xfrm>
            <a:off x="6993331" y="5431062"/>
            <a:ext cx="7125005" cy="936000"/>
            <a:chOff x="6993331" y="4506163"/>
            <a:chExt cx="7125005" cy="731520"/>
          </a:xfrm>
        </p:grpSpPr>
        <p:sp>
          <p:nvSpPr>
            <p:cNvPr id="35" name="Shape 33"/>
            <p:cNvSpPr/>
            <p:nvPr/>
          </p:nvSpPr>
          <p:spPr>
            <a:xfrm>
              <a:off x="6993331" y="4506163"/>
              <a:ext cx="7125005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DDDE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7198157" y="4652467"/>
              <a:ext cx="585216" cy="438912"/>
            </a:xfrm>
            <a:prstGeom prst="roundRect">
              <a:avLst>
                <a:gd name="adj" fmla="val 16667"/>
              </a:avLst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7198157" y="4652467"/>
              <a:ext cx="5852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958938" y="4871923"/>
              <a:ext cx="0" cy="0"/>
            </a:xfrm>
            <a:prstGeom prst="line">
              <a:avLst/>
            </a:prstGeom>
            <a:noFill/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958938" y="4535424"/>
              <a:ext cx="5925312" cy="67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en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Operate: </a:t>
              </a:r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자동화</a:t>
              </a:r>
              <a:r>
                <a:rPr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lang="en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KPI, </a:t>
              </a:r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비용 리뷰 운영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BFC9BFF-8518-9CC3-B2F8-F9023FB20809}"/>
              </a:ext>
            </a:extLst>
          </p:cNvPr>
          <p:cNvGrpSpPr/>
          <p:nvPr/>
        </p:nvGrpSpPr>
        <p:grpSpPr>
          <a:xfrm>
            <a:off x="6993330" y="6558663"/>
            <a:ext cx="7125005" cy="936000"/>
            <a:chOff x="6993331" y="4506163"/>
            <a:chExt cx="7125005" cy="731520"/>
          </a:xfrm>
        </p:grpSpPr>
        <p:sp>
          <p:nvSpPr>
            <p:cNvPr id="41" name="Shape 33">
              <a:extLst>
                <a:ext uri="{FF2B5EF4-FFF2-40B4-BE49-F238E27FC236}">
                  <a16:creationId xmlns:a16="http://schemas.microsoft.com/office/drawing/2014/main" id="{DC24CF73-3ED3-92F5-B809-D1CB026DD7B0}"/>
                </a:ext>
              </a:extLst>
            </p:cNvPr>
            <p:cNvSpPr/>
            <p:nvPr/>
          </p:nvSpPr>
          <p:spPr>
            <a:xfrm>
              <a:off x="6993331" y="4506163"/>
              <a:ext cx="7125005" cy="73152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DDDDE0"/>
              </a:solidFill>
              <a:prstDash val="solid"/>
            </a:ln>
            <a:effectLst>
              <a:outerShdw blurRad="63500" dist="127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2" name="Shape 34">
              <a:extLst>
                <a:ext uri="{FF2B5EF4-FFF2-40B4-BE49-F238E27FC236}">
                  <a16:creationId xmlns:a16="http://schemas.microsoft.com/office/drawing/2014/main" id="{8C9468F9-B638-50A2-EE4E-1B1C1D934FA1}"/>
                </a:ext>
              </a:extLst>
            </p:cNvPr>
            <p:cNvSpPr/>
            <p:nvPr/>
          </p:nvSpPr>
          <p:spPr>
            <a:xfrm>
              <a:off x="7198157" y="4652467"/>
              <a:ext cx="585216" cy="438912"/>
            </a:xfrm>
            <a:prstGeom prst="roundRect">
              <a:avLst>
                <a:gd name="adj" fmla="val 16667"/>
              </a:avLst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Text 35">
              <a:extLst>
                <a:ext uri="{FF2B5EF4-FFF2-40B4-BE49-F238E27FC236}">
                  <a16:creationId xmlns:a16="http://schemas.microsoft.com/office/drawing/2014/main" id="{63374480-EE16-B768-58F4-6AFBAC77F59D}"/>
                </a:ext>
              </a:extLst>
            </p:cNvPr>
            <p:cNvSpPr/>
            <p:nvPr/>
          </p:nvSpPr>
          <p:spPr>
            <a:xfrm>
              <a:off x="7198157" y="4652467"/>
              <a:ext cx="5852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Shape 36">
              <a:extLst>
                <a:ext uri="{FF2B5EF4-FFF2-40B4-BE49-F238E27FC236}">
                  <a16:creationId xmlns:a16="http://schemas.microsoft.com/office/drawing/2014/main" id="{3C7D5160-49EA-D8B1-F35D-661349C0F91A}"/>
                </a:ext>
              </a:extLst>
            </p:cNvPr>
            <p:cNvSpPr/>
            <p:nvPr/>
          </p:nvSpPr>
          <p:spPr>
            <a:xfrm>
              <a:off x="7958938" y="4871923"/>
              <a:ext cx="0" cy="0"/>
            </a:xfrm>
            <a:prstGeom prst="line">
              <a:avLst/>
            </a:prstGeom>
            <a:noFill/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5" name="Text 37">
              <a:extLst>
                <a:ext uri="{FF2B5EF4-FFF2-40B4-BE49-F238E27FC236}">
                  <a16:creationId xmlns:a16="http://schemas.microsoft.com/office/drawing/2014/main" id="{957DA58E-5233-2998-FEBF-548CEED33689}"/>
                </a:ext>
              </a:extLst>
            </p:cNvPr>
            <p:cNvSpPr/>
            <p:nvPr/>
          </p:nvSpPr>
          <p:spPr>
            <a:xfrm>
              <a:off x="7958938" y="4535424"/>
              <a:ext cx="5925312" cy="6729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lvl="0">
                <a:defRPr/>
              </a:pPr>
              <a:r>
                <a:rPr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성숙도 진단과 최신 트렌드 적용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6F3A7-FDE9-D87E-AA66-D50222864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3DCA753-6826-67C8-66AE-F6A983BD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FinOps 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정의와 필요성</a:t>
            </a:r>
            <a:endParaRPr lang="ko-KR" altLang="en-US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5CC2CD56-D653-5BE9-7291-E80DDF29803A}"/>
              </a:ext>
            </a:extLst>
          </p:cNvPr>
          <p:cNvSpPr/>
          <p:nvPr/>
        </p:nvSpPr>
        <p:spPr>
          <a:xfrm>
            <a:off x="508406" y="1222038"/>
            <a:ext cx="6400800" cy="182880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3597C56-7496-D86C-B1C3-AF00F83B5409}"/>
              </a:ext>
            </a:extLst>
          </p:cNvPr>
          <p:cNvSpPr/>
          <p:nvPr/>
        </p:nvSpPr>
        <p:spPr>
          <a:xfrm>
            <a:off x="691286" y="1359198"/>
            <a:ext cx="146304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2B25358-80BD-E219-25E6-B4B225C02C72}"/>
              </a:ext>
            </a:extLst>
          </p:cNvPr>
          <p:cNvSpPr/>
          <p:nvPr/>
        </p:nvSpPr>
        <p:spPr>
          <a:xfrm>
            <a:off x="691286" y="135919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FinOps란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1EECA664-4C3D-6669-D5FF-E6CC5FFB6C58}"/>
              </a:ext>
            </a:extLst>
          </p:cNvPr>
          <p:cNvSpPr/>
          <p:nvPr/>
        </p:nvSpPr>
        <p:spPr>
          <a:xfrm>
            <a:off x="691286" y="1770678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FinOps(Financial Operations)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Finance + DevOps의 합성어로,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비용 최적화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가치 극대화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위해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재무, 비즈니스, IT 조직이 </a:t>
            </a: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기반으로 협업하는 체계</a:t>
            </a:r>
            <a:endParaRPr lang="en-US" sz="15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" name="Image 0" descr="/sessions/lucid-compassionate-einstein/mnt/courseware/output/images/finops_concept_diagram.png">
            <a:extLst>
              <a:ext uri="{FF2B5EF4-FFF2-40B4-BE49-F238E27FC236}">
                <a16:creationId xmlns:a16="http://schemas.microsoft.com/office/drawing/2014/main" id="{16C91681-4B5D-9C4A-851D-14FAE7090E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1286" y="3233718"/>
            <a:ext cx="6035040" cy="3200400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8B129E2D-E44C-BD80-BF45-1492DD4CCD2E}"/>
              </a:ext>
            </a:extLst>
          </p:cNvPr>
          <p:cNvSpPr/>
          <p:nvPr/>
        </p:nvSpPr>
        <p:spPr>
          <a:xfrm>
            <a:off x="7223760" y="1222038"/>
            <a:ext cx="6898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FinOps가 필요한가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02BC49B-7942-1151-F39D-10BE9A79702C}"/>
              </a:ext>
            </a:extLst>
          </p:cNvPr>
          <p:cNvSpPr/>
          <p:nvPr/>
        </p:nvSpPr>
        <p:spPr>
          <a:xfrm>
            <a:off x="7223760" y="1724958"/>
            <a:ext cx="68982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사용량 기반 비용 모델로 전환되면서 </a:t>
            </a: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비용의 예측·최적화가 어려워지고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책임이 조직 전체로 분산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되어 </a:t>
            </a:r>
            <a:r>
              <a:rPr lang="en-US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가치 증명이 어려워졌기 때문</a:t>
            </a:r>
            <a:endParaRPr lang="en-US" sz="1400" b="1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31" name="Table 0">
            <a:extLst>
              <a:ext uri="{FF2B5EF4-FFF2-40B4-BE49-F238E27FC236}">
                <a16:creationId xmlns:a16="http://schemas.microsoft.com/office/drawing/2014/main" id="{3820EE70-F660-B4DB-2A67-D1D898F65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468174"/>
              </p:ext>
            </p:extLst>
          </p:nvPr>
        </p:nvGraphicFramePr>
        <p:xfrm>
          <a:off x="7223760" y="2547918"/>
          <a:ext cx="6894576" cy="24231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5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전통적 IT (CapEx)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클라우드 (OpEx)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고정비 — 장비 구매 후 감가상각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변동비 — 사용량에 따라 과금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예측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가능 (사전 계획 기반)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어려움 (수요 변동)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책임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IT 부서 집중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분산 (엔지니어, PO, 재무)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최적화 시점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구매 시점에 1회 결정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지속적 모니터링·최적화 필요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37160" marR="137160" marT="54864" marB="54864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Shape 9">
            <a:extLst>
              <a:ext uri="{FF2B5EF4-FFF2-40B4-BE49-F238E27FC236}">
                <a16:creationId xmlns:a16="http://schemas.microsoft.com/office/drawing/2014/main" id="{7DFCEEC9-5630-D0AC-FD80-99764BE291F6}"/>
              </a:ext>
            </a:extLst>
          </p:cNvPr>
          <p:cNvSpPr/>
          <p:nvPr/>
        </p:nvSpPr>
        <p:spPr>
          <a:xfrm>
            <a:off x="7223760" y="5199678"/>
            <a:ext cx="6898234" cy="1691640"/>
          </a:xfrm>
          <a:prstGeom prst="roundRect">
            <a:avLst>
              <a:gd name="adj" fmla="val 5405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D74E3AC4-1EB3-0143-A806-2DA975FE8797}"/>
              </a:ext>
            </a:extLst>
          </p:cNvPr>
          <p:cNvSpPr/>
          <p:nvPr/>
        </p:nvSpPr>
        <p:spPr>
          <a:xfrm>
            <a:off x="7406640" y="5336838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CA15B0B2-3645-A9D1-0E17-1E2D5DE14917}"/>
              </a:ext>
            </a:extLst>
          </p:cNvPr>
          <p:cNvSpPr/>
          <p:nvPr/>
        </p:nvSpPr>
        <p:spPr>
          <a:xfrm>
            <a:off x="7406640" y="5336838"/>
            <a:ext cx="1371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수치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33062242-52E0-703D-E62B-7ABAA8FCA605}"/>
              </a:ext>
            </a:extLst>
          </p:cNvPr>
          <p:cNvSpPr/>
          <p:nvPr/>
        </p:nvSpPr>
        <p:spPr>
          <a:xfrm>
            <a:off x="7406640" y="570259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26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1/3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클라우드 지출 중 낭비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ACD32AAA-FEE3-344D-E1CD-875F9868DD05}"/>
              </a:ext>
            </a:extLst>
          </p:cNvPr>
          <p:cNvSpPr/>
          <p:nvPr/>
        </p:nvSpPr>
        <p:spPr>
          <a:xfrm>
            <a:off x="10671048" y="5748318"/>
            <a:ext cx="0" cy="91440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A845365E-B388-D10B-1B18-07F4C18CABDF}"/>
              </a:ext>
            </a:extLst>
          </p:cNvPr>
          <p:cNvSpPr/>
          <p:nvPr/>
        </p:nvSpPr>
        <p:spPr>
          <a:xfrm>
            <a:off x="10735056" y="5702598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596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25~30%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도입 시 월간 비용 절감</a:t>
            </a:r>
            <a:endParaRPr lang="en-US" sz="4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67E26B5D-31FD-D9D4-6E04-6FCB0AB1C6DC}"/>
              </a:ext>
            </a:extLst>
          </p:cNvPr>
          <p:cNvSpPr/>
          <p:nvPr/>
        </p:nvSpPr>
        <p:spPr>
          <a:xfrm>
            <a:off x="508406" y="7119918"/>
            <a:ext cx="136135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</a:t>
            </a: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Foundation은 Linux Foundation 산하 비영리 조직으로, 2026년 초 미션을 "Cloud"에서 "Technology"로 확장함. </a:t>
            </a:r>
            <a:r>
              <a:rPr lang="en-US" sz="1200" i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출처: finops.org/framework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슬라이드 번호 개체 틀 38">
            <a:extLst>
              <a:ext uri="{FF2B5EF4-FFF2-40B4-BE49-F238E27FC236}">
                <a16:creationId xmlns:a16="http://schemas.microsoft.com/office/drawing/2014/main" id="{2B93A3DF-91AA-2C28-A40C-CB83C19E81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3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5621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8DFD-D3AC-73A3-23FD-33B86CDB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734E7C56-CB67-9386-B36F-70E52148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FinOps 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골든써클</a:t>
            </a:r>
            <a:endParaRPr lang="ko-KR" alt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A438F86C-D8A4-ABC6-7F74-642385232034}"/>
              </a:ext>
            </a:extLst>
          </p:cNvPr>
          <p:cNvSpPr/>
          <p:nvPr/>
        </p:nvSpPr>
        <p:spPr>
          <a:xfrm>
            <a:off x="7057747" y="1105673"/>
            <a:ext cx="7176501" cy="6344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</a:t>
            </a:r>
            <a:r>
              <a:rPr lang="ko-KR" altLang="en-US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</a:t>
            </a:r>
            <a:r>
              <a:rPr lang="en-US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</a:p>
          <a:p>
            <a:pPr marL="0" indent="0">
              <a:buNone/>
            </a:pP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투자가치 극대화와 기술 비용 최적화를 위해 재무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/IT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조직이 데이터 기반으로 협업하는 체계 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C9DB43E-C354-9033-FF91-CA52116EB9D2}"/>
              </a:ext>
            </a:extLst>
          </p:cNvPr>
          <p:cNvGrpSpPr/>
          <p:nvPr/>
        </p:nvGrpSpPr>
        <p:grpSpPr>
          <a:xfrm>
            <a:off x="7057747" y="1826048"/>
            <a:ext cx="7176501" cy="779127"/>
            <a:chOff x="7523482" y="1826047"/>
            <a:chExt cx="6710766" cy="1712769"/>
          </a:xfrm>
        </p:grpSpPr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3B72C355-40A0-FA1E-A35E-7DBB4C4A36F5}"/>
                </a:ext>
              </a:extLst>
            </p:cNvPr>
            <p:cNvSpPr/>
            <p:nvPr/>
          </p:nvSpPr>
          <p:spPr>
            <a:xfrm>
              <a:off x="7523482" y="1826047"/>
              <a:ext cx="6710766" cy="1712769"/>
            </a:xfrm>
            <a:prstGeom prst="roundRect">
              <a:avLst>
                <a:gd name="adj" fmla="val 351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47781506-05D9-681F-4C24-81A257EAFECE}"/>
                </a:ext>
              </a:extLst>
            </p:cNvPr>
            <p:cNvSpPr/>
            <p:nvPr/>
          </p:nvSpPr>
          <p:spPr>
            <a:xfrm>
              <a:off x="7627540" y="1826047"/>
              <a:ext cx="889659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WHY</a:t>
              </a:r>
              <a:endParaRPr lang="en-US" sz="15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D86EBFBE-AC50-D145-4E97-1DD2C35C319D}"/>
                </a:ext>
              </a:extLst>
            </p:cNvPr>
            <p:cNvSpPr/>
            <p:nvPr/>
          </p:nvSpPr>
          <p:spPr>
            <a:xfrm>
              <a:off x="8638599" y="2168601"/>
              <a:ext cx="14452" cy="1027661"/>
            </a:xfrm>
            <a:prstGeom prst="rect">
              <a:avLst/>
            </a:prstGeom>
            <a:solidFill>
              <a:srgbClr val="DDDDE0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B5CE6158-A9A9-0EFA-C0C4-9A2DD191C06E}"/>
                </a:ext>
              </a:extLst>
            </p:cNvPr>
            <p:cNvSpPr/>
            <p:nvPr/>
          </p:nvSpPr>
          <p:spPr>
            <a:xfrm>
              <a:off x="8759999" y="1826047"/>
              <a:ext cx="5290141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투자 가치 극대화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기술 투자가 비즈니스 성과로 이어지는지 증명</a:t>
              </a:r>
              <a:endPara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기술 비용 최적화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클라우드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/SaaS/AI/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라이선스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 기술 지출에서 낭비를 제거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CCE14A-4FA8-47E1-BB04-E19619A97380}"/>
              </a:ext>
            </a:extLst>
          </p:cNvPr>
          <p:cNvGrpSpPr/>
          <p:nvPr/>
        </p:nvGrpSpPr>
        <p:grpSpPr>
          <a:xfrm>
            <a:off x="7057747" y="2797595"/>
            <a:ext cx="7176501" cy="1299796"/>
            <a:chOff x="7523482" y="3607568"/>
            <a:chExt cx="6710766" cy="1712769"/>
          </a:xfrm>
        </p:grpSpPr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1AC7F599-977D-710F-27FC-3684A341800C}"/>
                </a:ext>
              </a:extLst>
            </p:cNvPr>
            <p:cNvSpPr/>
            <p:nvPr/>
          </p:nvSpPr>
          <p:spPr>
            <a:xfrm>
              <a:off x="7523482" y="3607568"/>
              <a:ext cx="6710766" cy="1712769"/>
            </a:xfrm>
            <a:prstGeom prst="roundRect">
              <a:avLst>
                <a:gd name="adj" fmla="val 351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E55F7617-0B39-1DD2-2DF8-0438096ABBA7}"/>
                </a:ext>
              </a:extLst>
            </p:cNvPr>
            <p:cNvSpPr/>
            <p:nvPr/>
          </p:nvSpPr>
          <p:spPr>
            <a:xfrm>
              <a:off x="7627540" y="3607568"/>
              <a:ext cx="889659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2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HOW</a:t>
              </a:r>
              <a:endParaRPr lang="en-US" sz="1500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8BAA1D1C-4E5A-6EC2-D3B9-CB517DFD1963}"/>
                </a:ext>
              </a:extLst>
            </p:cNvPr>
            <p:cNvSpPr/>
            <p:nvPr/>
          </p:nvSpPr>
          <p:spPr>
            <a:xfrm>
              <a:off x="8638599" y="3950122"/>
              <a:ext cx="14452" cy="1027661"/>
            </a:xfrm>
            <a:prstGeom prst="rect">
              <a:avLst/>
            </a:prstGeom>
            <a:solidFill>
              <a:srgbClr val="DDDDE0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2A4C902-A19C-0FEE-F26C-55A20C4416DE}"/>
                </a:ext>
              </a:extLst>
            </p:cNvPr>
            <p:cNvSpPr/>
            <p:nvPr/>
          </p:nvSpPr>
          <p:spPr>
            <a:xfrm>
              <a:off x="8759999" y="3607568"/>
              <a:ext cx="5381455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보이기</a:t>
              </a:r>
              <a:r>
                <a:rPr 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</a:t>
              </a: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비용 데이터를 수집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400" dirty="0" err="1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시각화하여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누가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어디에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얼마를 쓰는지 가시화</a:t>
              </a:r>
              <a:br>
                <a:rPr 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줄이기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가시성을 기반으로 낭비를 제거하고 비용 효율성 개선</a:t>
              </a:r>
              <a:endPara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lnSpc>
                  <a:spcPct val="150000"/>
                </a:lnSpc>
                <a:buNone/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체계화</a:t>
              </a:r>
              <a:r>
                <a:rPr 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지속 가능한 운영 체계로 정착되도록 구조화 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2785BCC-DE00-26A8-07D6-C98BF52F0B1D}"/>
              </a:ext>
            </a:extLst>
          </p:cNvPr>
          <p:cNvGrpSpPr/>
          <p:nvPr/>
        </p:nvGrpSpPr>
        <p:grpSpPr>
          <a:xfrm>
            <a:off x="7057747" y="4289811"/>
            <a:ext cx="7176501" cy="3141626"/>
            <a:chOff x="7523482" y="5389090"/>
            <a:chExt cx="6710766" cy="1712769"/>
          </a:xfrm>
        </p:grpSpPr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01EB9A7A-D760-CCC3-C9F7-F928AACC798D}"/>
                </a:ext>
              </a:extLst>
            </p:cNvPr>
            <p:cNvSpPr/>
            <p:nvPr/>
          </p:nvSpPr>
          <p:spPr>
            <a:xfrm>
              <a:off x="7523482" y="5389090"/>
              <a:ext cx="6710766" cy="1712769"/>
            </a:xfrm>
            <a:prstGeom prst="roundRect">
              <a:avLst>
                <a:gd name="adj" fmla="val 351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480679AE-5D39-874A-4C80-BECB4CCB2E67}"/>
                </a:ext>
              </a:extLst>
            </p:cNvPr>
            <p:cNvSpPr/>
            <p:nvPr/>
          </p:nvSpPr>
          <p:spPr>
            <a:xfrm>
              <a:off x="7627540" y="5389090"/>
              <a:ext cx="889659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0070C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WHAT</a:t>
              </a:r>
              <a:endParaRPr lang="en-US" sz="1500" dirty="0">
                <a:solidFill>
                  <a:srgbClr val="007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" name="Shape 15">
              <a:extLst>
                <a:ext uri="{FF2B5EF4-FFF2-40B4-BE49-F238E27FC236}">
                  <a16:creationId xmlns:a16="http://schemas.microsoft.com/office/drawing/2014/main" id="{18AB049E-6BD9-3A61-8BF8-03EAFC493EAA}"/>
                </a:ext>
              </a:extLst>
            </p:cNvPr>
            <p:cNvSpPr/>
            <p:nvPr/>
          </p:nvSpPr>
          <p:spPr>
            <a:xfrm>
              <a:off x="8638599" y="5731644"/>
              <a:ext cx="14452" cy="1027661"/>
            </a:xfrm>
            <a:prstGeom prst="rect">
              <a:avLst/>
            </a:prstGeom>
            <a:solidFill>
              <a:srgbClr val="DDDDE0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2167B2F1-59B8-E4BF-7F24-FC5D275026FE}"/>
                </a:ext>
              </a:extLst>
            </p:cNvPr>
            <p:cNvSpPr/>
            <p:nvPr/>
          </p:nvSpPr>
          <p:spPr>
            <a:xfrm>
              <a:off x="8759999" y="5389090"/>
              <a:ext cx="5459797" cy="171276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이상 비용 탐지 체계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수집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분석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탐지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대응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예측 체계 구축</a:t>
              </a:r>
              <a:endPara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태그 기반 비용 추적</a:t>
              </a:r>
              <a:r>
                <a:rPr lang="en-US" altLang="ko-KR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할당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조직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/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환경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등으로 </a:t>
              </a:r>
              <a:r>
                <a:rPr lang="ko-KR" altLang="en-US" sz="1400" dirty="0" err="1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태깅하여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비용 추적 및 할당</a:t>
              </a:r>
              <a:endPara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Right-sizing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과잉 사용 리소스를 적정 사양으로 조정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미사용 리소스 제거</a:t>
              </a:r>
              <a:endPara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스케일링 정책 최적화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HPA/VPA/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노드의 오토 스케일링 정책 튜닝</a:t>
              </a:r>
              <a:endPara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약정할인 의사결정</a:t>
              </a:r>
              <a:r>
                <a:rPr lang="en-US" altLang="ko-KR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RI/SP/SI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 워크로드 특성에 맞는 할인 전략 적용</a:t>
              </a:r>
              <a:endParaRPr lang="en-US" altLang="ko-KR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FinOps </a:t>
              </a: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자동화</a:t>
              </a:r>
              <a:r>
                <a:rPr lang="en-US" altLang="ko-KR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탐지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권고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승인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적용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검증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파이프라인 구축</a:t>
              </a:r>
              <a:endParaRPr lang="en-US" altLang="ko-KR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KPI </a:t>
              </a: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Biz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성과의 단위당 비용 측정 포함 </a:t>
              </a:r>
              <a:r>
                <a:rPr lang="en-US" altLang="ko-KR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FinOps KPI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</a:t>
              </a:r>
              <a:endPara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600" b="1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협업문화와 거버넌스 체계</a:t>
              </a:r>
              <a:r>
                <a:rPr lang="en-US" altLang="ko-KR" sz="16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4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정기적 비용 리뷰와 비용 관리 프로세스 수립</a:t>
              </a:r>
              <a:endPara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21" name="Text 17">
            <a:extLst>
              <a:ext uri="{FF2B5EF4-FFF2-40B4-BE49-F238E27FC236}">
                <a16:creationId xmlns:a16="http://schemas.microsoft.com/office/drawing/2014/main" id="{2FD988DF-04C5-F344-0128-FD6639F8EBBF}"/>
              </a:ext>
            </a:extLst>
          </p:cNvPr>
          <p:cNvSpPr/>
          <p:nvPr/>
        </p:nvSpPr>
        <p:spPr>
          <a:xfrm>
            <a:off x="707206" y="7308732"/>
            <a:ext cx="5926066" cy="438912"/>
          </a:xfrm>
          <a:prstGeom prst="rect">
            <a:avLst/>
          </a:prstGeom>
          <a:solidFill>
            <a:srgbClr val="CCFBF1"/>
          </a:solidFill>
          <a:ln>
            <a:solidFill>
              <a:srgbClr val="CCFBF1"/>
            </a:solidFill>
          </a:ln>
        </p:spPr>
        <p:txBody>
          <a:bodyPr wrap="square" lIns="137160" tIns="137160" rIns="137160" bIns="137160" rtlCol="0" anchor="ctr"/>
          <a:lstStyle/>
          <a:p>
            <a:pPr marL="0" indent="0">
              <a:buNone/>
            </a:pPr>
            <a:r>
              <a:rPr lang="ko-KR" altLang="en-US" sz="14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기억팁</a:t>
            </a:r>
            <a:r>
              <a:rPr lang="en-US" altLang="ko-KR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</a:t>
            </a:r>
            <a:r>
              <a:rPr lang="en-US" altLang="ko-KR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사이즈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캔하여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할인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받고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KPI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ko-KR" alt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협업문화</a:t>
            </a:r>
            <a:r>
              <a:rPr lang="ko-KR" alt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완성하자</a:t>
            </a:r>
            <a:r>
              <a:rPr lang="en-US" altLang="ko-KR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!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377851-F329-19D8-5006-8F0E395C2BBA}"/>
              </a:ext>
            </a:extLst>
          </p:cNvPr>
          <p:cNvSpPr/>
          <p:nvPr/>
        </p:nvSpPr>
        <p:spPr>
          <a:xfrm>
            <a:off x="701460" y="1513784"/>
            <a:ext cx="5800926" cy="565828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04289-9F6B-9E2E-3AC9-2BDC91BBA380}"/>
              </a:ext>
            </a:extLst>
          </p:cNvPr>
          <p:cNvSpPr txBox="1"/>
          <p:nvPr/>
        </p:nvSpPr>
        <p:spPr>
          <a:xfrm>
            <a:off x="3056973" y="1375285"/>
            <a:ext cx="1176482" cy="3839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WHAT</a:t>
            </a:r>
            <a:endParaRPr lang="ko-KR" alt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871D70-5999-AF6B-66DF-23434E8F09E0}"/>
              </a:ext>
            </a:extLst>
          </p:cNvPr>
          <p:cNvSpPr txBox="1"/>
          <p:nvPr/>
        </p:nvSpPr>
        <p:spPr>
          <a:xfrm>
            <a:off x="5581406" y="3679746"/>
            <a:ext cx="920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600" b="1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Right </a:t>
            </a:r>
            <a:br>
              <a:rPr lang="en-US" altLang="ko-KR" dirty="0">
                <a:solidFill>
                  <a:srgbClr val="00B0F0"/>
                </a:solidFill>
              </a:rPr>
            </a:br>
            <a:r>
              <a:rPr lang="en-US" altLang="ko-KR" dirty="0">
                <a:solidFill>
                  <a:srgbClr val="00B0F0"/>
                </a:solidFill>
              </a:rPr>
              <a:t>-sizing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F3C51-41FD-5608-F6C1-548E1E3E554A}"/>
              </a:ext>
            </a:extLst>
          </p:cNvPr>
          <p:cNvSpPr txBox="1"/>
          <p:nvPr/>
        </p:nvSpPr>
        <p:spPr>
          <a:xfrm>
            <a:off x="1031769" y="5930716"/>
            <a:ext cx="2005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협업문화와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거버넌스 체계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455725-FF71-12D6-C582-C20D6E58FF28}"/>
              </a:ext>
            </a:extLst>
          </p:cNvPr>
          <p:cNvSpPr txBox="1"/>
          <p:nvPr/>
        </p:nvSpPr>
        <p:spPr>
          <a:xfrm>
            <a:off x="576598" y="3519413"/>
            <a:ext cx="1311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err="1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FionOps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</a:t>
            </a:r>
            <a:endParaRPr lang="ko-KR" altLang="en-US" sz="1400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51F633-FD91-C8AC-4B7F-AB016165DF5E}"/>
              </a:ext>
            </a:extLst>
          </p:cNvPr>
          <p:cNvSpPr txBox="1"/>
          <p:nvPr/>
        </p:nvSpPr>
        <p:spPr>
          <a:xfrm>
            <a:off x="5400186" y="4822874"/>
            <a:ext cx="10105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스케일링　정책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최적화</a:t>
            </a:r>
            <a:endParaRPr lang="ko-KR" altLang="en-US" sz="1600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Oval 15">
            <a:extLst>
              <a:ext uri="{FF2B5EF4-FFF2-40B4-BE49-F238E27FC236}">
                <a16:creationId xmlns:a16="http://schemas.microsoft.com/office/drawing/2014/main" id="{F75DF2AB-88BF-5B3E-7E9A-03C2D89A0B3F}"/>
              </a:ext>
            </a:extLst>
          </p:cNvPr>
          <p:cNvSpPr/>
          <p:nvPr/>
        </p:nvSpPr>
        <p:spPr>
          <a:xfrm>
            <a:off x="1644365" y="2433503"/>
            <a:ext cx="3845410" cy="375085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760AD9-6C10-15E1-47C1-AB4C681D70B4}"/>
              </a:ext>
            </a:extLst>
          </p:cNvPr>
          <p:cNvSpPr txBox="1"/>
          <p:nvPr/>
        </p:nvSpPr>
        <p:spPr>
          <a:xfrm>
            <a:off x="3056973" y="2277554"/>
            <a:ext cx="1108242" cy="3839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HOW</a:t>
            </a:r>
            <a:endParaRPr lang="ko-KR" alt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8BA3D6-217E-AAF7-C6E8-4BAF68A5BF90}"/>
              </a:ext>
            </a:extLst>
          </p:cNvPr>
          <p:cNvSpPr txBox="1"/>
          <p:nvPr/>
        </p:nvSpPr>
        <p:spPr>
          <a:xfrm>
            <a:off x="1623486" y="4799513"/>
            <a:ext cx="139555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체계화</a:t>
            </a:r>
            <a:br>
              <a:rPr lang="en-US" altLang="ko-KR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(Operate)</a:t>
            </a:r>
            <a:endParaRPr lang="ko-KR" altLang="en-US" sz="1600" b="1" dirty="0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144C1F-8CD2-593D-2303-9EBC583BCB33}"/>
              </a:ext>
            </a:extLst>
          </p:cNvPr>
          <p:cNvSpPr txBox="1"/>
          <p:nvPr/>
        </p:nvSpPr>
        <p:spPr>
          <a:xfrm>
            <a:off x="4317650" y="4657428"/>
            <a:ext cx="1010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줄이기</a:t>
            </a:r>
            <a:br>
              <a:rPr lang="en-US" altLang="ko-KR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(Optimize)</a:t>
            </a:r>
            <a:endParaRPr lang="ko-KR" altLang="en-US" sz="1600" b="1" dirty="0">
              <a:solidFill>
                <a:srgbClr val="00206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A5BB6A-14F4-2FDC-2C9D-C247981804B9}"/>
              </a:ext>
            </a:extLst>
          </p:cNvPr>
          <p:cNvSpPr txBox="1"/>
          <p:nvPr/>
        </p:nvSpPr>
        <p:spPr>
          <a:xfrm>
            <a:off x="2730083" y="2799955"/>
            <a:ext cx="1875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보이기</a:t>
            </a:r>
            <a:r>
              <a:rPr lang="en-US" altLang="ko-KR" sz="1600" b="1" dirty="0">
                <a:solidFill>
                  <a:srgbClr val="002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(Inform)</a:t>
            </a:r>
          </a:p>
        </p:txBody>
      </p:sp>
      <p:sp>
        <p:nvSpPr>
          <p:cNvPr id="47" name="Oval 1">
            <a:extLst>
              <a:ext uri="{FF2B5EF4-FFF2-40B4-BE49-F238E27FC236}">
                <a16:creationId xmlns:a16="http://schemas.microsoft.com/office/drawing/2014/main" id="{729000BE-3832-5829-1841-CD1A37CD8AB0}"/>
              </a:ext>
            </a:extLst>
          </p:cNvPr>
          <p:cNvSpPr/>
          <p:nvPr/>
        </p:nvSpPr>
        <p:spPr>
          <a:xfrm>
            <a:off x="2435634" y="3331586"/>
            <a:ext cx="2207790" cy="193898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DB043D-3A84-43E0-C67D-D93291F6D700}"/>
              </a:ext>
            </a:extLst>
          </p:cNvPr>
          <p:cNvSpPr txBox="1"/>
          <p:nvPr/>
        </p:nvSpPr>
        <p:spPr>
          <a:xfrm>
            <a:off x="2769135" y="3864703"/>
            <a:ext cx="1539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투자 가치 극대화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1A141B-9F87-C39B-3052-1A2D077BA3DA}"/>
              </a:ext>
            </a:extLst>
          </p:cNvPr>
          <p:cNvSpPr txBox="1"/>
          <p:nvPr/>
        </p:nvSpPr>
        <p:spPr>
          <a:xfrm>
            <a:off x="2741953" y="4466420"/>
            <a:ext cx="1651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비용 최적화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A5287D-AB9A-FD6A-2F4B-3FB91B2AD877}"/>
              </a:ext>
            </a:extLst>
          </p:cNvPr>
          <p:cNvSpPr txBox="1"/>
          <p:nvPr/>
        </p:nvSpPr>
        <p:spPr>
          <a:xfrm>
            <a:off x="3212337" y="3144153"/>
            <a:ext cx="811618" cy="38390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WHY</a:t>
            </a:r>
            <a:endParaRPr lang="ko-KR" alt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6940F7-55CD-D74B-BDEE-7B063CB6FF56}"/>
              </a:ext>
            </a:extLst>
          </p:cNvPr>
          <p:cNvSpPr txBox="1"/>
          <p:nvPr/>
        </p:nvSpPr>
        <p:spPr>
          <a:xfrm>
            <a:off x="2053469" y="1872747"/>
            <a:ext cx="13504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비용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탐지 체계</a:t>
            </a:r>
            <a:endParaRPr lang="ko-KR" altLang="en-US" sz="1400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자유형: 도형 62">
            <a:extLst>
              <a:ext uri="{FF2B5EF4-FFF2-40B4-BE49-F238E27FC236}">
                <a16:creationId xmlns:a16="http://schemas.microsoft.com/office/drawing/2014/main" id="{A18EDD1A-72DE-A959-4854-CF5CF8BC8F3C}"/>
              </a:ext>
            </a:extLst>
          </p:cNvPr>
          <p:cNvSpPr/>
          <p:nvPr/>
        </p:nvSpPr>
        <p:spPr>
          <a:xfrm>
            <a:off x="4370522" y="3115159"/>
            <a:ext cx="566794" cy="1580827"/>
          </a:xfrm>
          <a:custGeom>
            <a:avLst/>
            <a:gdLst>
              <a:gd name="csX0" fmla="*/ 0 w 566794"/>
              <a:gd name="csY0" fmla="*/ 0 h 1580827"/>
              <a:gd name="csX1" fmla="*/ 503695 w 566794"/>
              <a:gd name="csY1" fmla="*/ 581187 h 1580827"/>
              <a:gd name="csX2" fmla="*/ 542441 w 566794"/>
              <a:gd name="csY2" fmla="*/ 1580827 h 1580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66794" h="1580827">
                <a:moveTo>
                  <a:pt x="0" y="0"/>
                </a:moveTo>
                <a:cubicBezTo>
                  <a:pt x="206644" y="158858"/>
                  <a:pt x="413288" y="317716"/>
                  <a:pt x="503695" y="581187"/>
                </a:cubicBezTo>
                <a:cubicBezTo>
                  <a:pt x="594102" y="844658"/>
                  <a:pt x="568271" y="1212742"/>
                  <a:pt x="542441" y="1580827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26A73243-CF94-CABA-F9C7-F5202653558D}"/>
              </a:ext>
            </a:extLst>
          </p:cNvPr>
          <p:cNvSpPr/>
          <p:nvPr/>
        </p:nvSpPr>
        <p:spPr>
          <a:xfrm>
            <a:off x="2588217" y="5416658"/>
            <a:ext cx="1906291" cy="347970"/>
          </a:xfrm>
          <a:custGeom>
            <a:avLst/>
            <a:gdLst>
              <a:gd name="csX0" fmla="*/ 1906291 w 1906291"/>
              <a:gd name="csY0" fmla="*/ 0 h 347970"/>
              <a:gd name="csX1" fmla="*/ 1139125 w 1906291"/>
              <a:gd name="csY1" fmla="*/ 333213 h 347970"/>
              <a:gd name="csX2" fmla="*/ 395207 w 1906291"/>
              <a:gd name="csY2" fmla="*/ 263471 h 347970"/>
              <a:gd name="csX3" fmla="*/ 0 w 1906291"/>
              <a:gd name="csY3" fmla="*/ 30996 h 34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906291" h="347970">
                <a:moveTo>
                  <a:pt x="1906291" y="0"/>
                </a:moveTo>
                <a:cubicBezTo>
                  <a:pt x="1648631" y="144650"/>
                  <a:pt x="1390972" y="289301"/>
                  <a:pt x="1139125" y="333213"/>
                </a:cubicBezTo>
                <a:cubicBezTo>
                  <a:pt x="887278" y="377125"/>
                  <a:pt x="585061" y="313840"/>
                  <a:pt x="395207" y="263471"/>
                </a:cubicBezTo>
                <a:cubicBezTo>
                  <a:pt x="205353" y="213102"/>
                  <a:pt x="102676" y="122049"/>
                  <a:pt x="0" y="30996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7DF2AC2E-4C7A-A6CD-9CB2-F9C824723E8E}"/>
              </a:ext>
            </a:extLst>
          </p:cNvPr>
          <p:cNvSpPr/>
          <p:nvPr/>
        </p:nvSpPr>
        <p:spPr>
          <a:xfrm>
            <a:off x="2053469" y="3029919"/>
            <a:ext cx="813717" cy="1689315"/>
          </a:xfrm>
          <a:custGeom>
            <a:avLst/>
            <a:gdLst>
              <a:gd name="csX0" fmla="*/ 93046 w 813717"/>
              <a:gd name="csY0" fmla="*/ 1689315 h 1689315"/>
              <a:gd name="csX1" fmla="*/ 56 w 813717"/>
              <a:gd name="csY1" fmla="*/ 1146874 h 1689315"/>
              <a:gd name="csX2" fmla="*/ 85297 w 813717"/>
              <a:gd name="csY2" fmla="*/ 619932 h 1689315"/>
              <a:gd name="csX3" fmla="*/ 395263 w 813717"/>
              <a:gd name="csY3" fmla="*/ 201478 h 1689315"/>
              <a:gd name="csX4" fmla="*/ 813717 w 813717"/>
              <a:gd name="csY4" fmla="*/ 0 h 16893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13717" h="1689315">
                <a:moveTo>
                  <a:pt x="93046" y="1689315"/>
                </a:moveTo>
                <a:cubicBezTo>
                  <a:pt x="47196" y="1507209"/>
                  <a:pt x="1347" y="1325104"/>
                  <a:pt x="56" y="1146874"/>
                </a:cubicBezTo>
                <a:cubicBezTo>
                  <a:pt x="-1235" y="968644"/>
                  <a:pt x="19429" y="777498"/>
                  <a:pt x="85297" y="619932"/>
                </a:cubicBezTo>
                <a:cubicBezTo>
                  <a:pt x="151165" y="462366"/>
                  <a:pt x="273860" y="304800"/>
                  <a:pt x="395263" y="201478"/>
                </a:cubicBezTo>
                <a:cubicBezTo>
                  <a:pt x="516666" y="98156"/>
                  <a:pt x="665191" y="49078"/>
                  <a:pt x="813717" y="0"/>
                </a:cubicBez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C635ED0-B0EC-EF3C-E55F-BD1DC49D9EFE}"/>
              </a:ext>
            </a:extLst>
          </p:cNvPr>
          <p:cNvSpPr txBox="1"/>
          <p:nvPr/>
        </p:nvSpPr>
        <p:spPr>
          <a:xfrm>
            <a:off x="3767647" y="1790284"/>
            <a:ext cx="17128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태그기반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추적</a:t>
            </a:r>
            <a: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할당</a:t>
            </a:r>
            <a:endParaRPr lang="ko-KR" altLang="en-US" sz="1400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9C69FC-D878-3802-1D6B-A44475F31977}"/>
              </a:ext>
            </a:extLst>
          </p:cNvPr>
          <p:cNvSpPr txBox="1"/>
          <p:nvPr/>
        </p:nvSpPr>
        <p:spPr>
          <a:xfrm>
            <a:off x="4280121" y="5994184"/>
            <a:ext cx="12305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약정할인　</a:t>
            </a:r>
            <a:b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의사결정</a:t>
            </a:r>
            <a:endParaRPr lang="ko-KR" altLang="en-US" sz="1600" dirty="0">
              <a:solidFill>
                <a:srgbClr val="00B0F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7BDC60-096A-82D6-B1C2-F31917860326}"/>
              </a:ext>
            </a:extLst>
          </p:cNvPr>
          <p:cNvSpPr txBox="1"/>
          <p:nvPr/>
        </p:nvSpPr>
        <p:spPr>
          <a:xfrm>
            <a:off x="668391" y="4799513"/>
            <a:ext cx="10680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KPI</a:t>
            </a:r>
            <a:r>
              <a:rPr lang="ko-KR" altLang="en-US" sz="1600" b="1" dirty="0">
                <a:solidFill>
                  <a:srgbClr val="00B0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관리</a:t>
            </a: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B91A7DDE-5161-DA1D-5535-375F8EC04DD2}"/>
              </a:ext>
            </a:extLst>
          </p:cNvPr>
          <p:cNvCxnSpPr>
            <a:stCxn id="45" idx="0"/>
          </p:cNvCxnSpPr>
          <p:nvPr/>
        </p:nvCxnSpPr>
        <p:spPr>
          <a:xfrm flipV="1">
            <a:off x="3667805" y="2375059"/>
            <a:ext cx="937722" cy="42489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DDC93A1-3AAD-A54E-324B-312C09376299}"/>
              </a:ext>
            </a:extLst>
          </p:cNvPr>
          <p:cNvCxnSpPr>
            <a:cxnSpLocks/>
            <a:stCxn id="45" idx="0"/>
            <a:endCxn id="58" idx="2"/>
          </p:cNvCxnSpPr>
          <p:nvPr/>
        </p:nvCxnSpPr>
        <p:spPr>
          <a:xfrm flipH="1" flipV="1">
            <a:off x="2728718" y="2457522"/>
            <a:ext cx="939087" cy="342433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5785289-A453-5F27-7A75-96ED83FE2BD2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5141000" y="3972134"/>
            <a:ext cx="440406" cy="808388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34565E50-F992-0171-FCF1-DB9CD14B1A09}"/>
              </a:ext>
            </a:extLst>
          </p:cNvPr>
          <p:cNvCxnSpPr>
            <a:cxnSpLocks/>
          </p:cNvCxnSpPr>
          <p:nvPr/>
        </p:nvCxnSpPr>
        <p:spPr>
          <a:xfrm>
            <a:off x="5141000" y="4777818"/>
            <a:ext cx="390903" cy="351534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248ABA6-FC30-7406-09FF-7DE67391975F}"/>
              </a:ext>
            </a:extLst>
          </p:cNvPr>
          <p:cNvCxnSpPr>
            <a:cxnSpLocks/>
          </p:cNvCxnSpPr>
          <p:nvPr/>
        </p:nvCxnSpPr>
        <p:spPr>
          <a:xfrm flipH="1">
            <a:off x="5070760" y="4780522"/>
            <a:ext cx="69062" cy="1174397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864BCBC-345A-4CBE-A625-096D1B82FB13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2034498" y="4949198"/>
            <a:ext cx="81293" cy="981518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84A371C6-1D7C-F125-F84B-AF2AA79FBE60}"/>
              </a:ext>
            </a:extLst>
          </p:cNvPr>
          <p:cNvCxnSpPr>
            <a:cxnSpLocks/>
          </p:cNvCxnSpPr>
          <p:nvPr/>
        </p:nvCxnSpPr>
        <p:spPr>
          <a:xfrm flipH="1">
            <a:off x="1696285" y="4963103"/>
            <a:ext cx="308698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DF85203-EA79-2DBC-3A47-34DF7B9602A9}"/>
              </a:ext>
            </a:extLst>
          </p:cNvPr>
          <p:cNvCxnSpPr>
            <a:cxnSpLocks/>
            <a:endCxn id="39" idx="2"/>
          </p:cNvCxnSpPr>
          <p:nvPr/>
        </p:nvCxnSpPr>
        <p:spPr>
          <a:xfrm flipH="1" flipV="1">
            <a:off x="1232175" y="4104188"/>
            <a:ext cx="800681" cy="77325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0E3A900-DDA0-FEB8-9CB6-F6195B8DFD27}"/>
              </a:ext>
            </a:extLst>
          </p:cNvPr>
          <p:cNvSpPr txBox="1"/>
          <p:nvPr/>
        </p:nvSpPr>
        <p:spPr>
          <a:xfrm>
            <a:off x="7057747" y="7447631"/>
            <a:ext cx="724718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※ RI: Reserved Instance, SP: Saving Plans, SI: Spot Instance</a:t>
            </a:r>
          </a:p>
          <a:p>
            <a:r>
              <a:rPr lang="en-US" altLang="ko-KR" sz="1100" dirty="0"/>
              <a:t>※ HPA: Horizontal Pod Autoscaling(Pod</a:t>
            </a:r>
            <a:r>
              <a:rPr lang="ko-KR" altLang="en-US" sz="1100" dirty="0"/>
              <a:t> 수 자동 증감</a:t>
            </a:r>
            <a:r>
              <a:rPr lang="en-US" altLang="ko-KR" sz="1100" dirty="0"/>
              <a:t>), VPA: Vertical Pod Autoscaling(CPU/Mem </a:t>
            </a:r>
            <a:r>
              <a:rPr lang="ko-KR" altLang="en-US" sz="1100" dirty="0"/>
              <a:t>자동 증감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06" name="슬라이드 번호 개체 틀 105">
            <a:extLst>
              <a:ext uri="{FF2B5EF4-FFF2-40B4-BE49-F238E27FC236}">
                <a16:creationId xmlns:a16="http://schemas.microsoft.com/office/drawing/2014/main" id="{C5960BE0-F5F5-3CD8-77E2-53A19B0B7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4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1560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619AB-B667-255B-53E9-B8959E734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5C453B86-644A-4D71-76DC-2678C8C2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FinOps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개요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FinOps 6대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B3DDE3-07E9-83C2-9B4A-941684AF2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5</a:t>
            </a:fld>
            <a:endParaRPr kumimoji="1" lang="ko-Kore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CDFFBB-9565-1EED-D158-274FF5A61509}"/>
              </a:ext>
            </a:extLst>
          </p:cNvPr>
          <p:cNvSpPr/>
          <p:nvPr/>
        </p:nvSpPr>
        <p:spPr>
          <a:xfrm>
            <a:off x="535432" y="1089221"/>
            <a:ext cx="136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Foundation 핵심 원칙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0C811870-1E7E-B042-EB74-909DB9E1A02F}"/>
              </a:ext>
            </a:extLst>
          </p:cNvPr>
          <p:cNvGrpSpPr/>
          <p:nvPr/>
        </p:nvGrpSpPr>
        <p:grpSpPr>
          <a:xfrm>
            <a:off x="535432" y="1467688"/>
            <a:ext cx="13614400" cy="411479"/>
            <a:chOff x="535432" y="1467688"/>
            <a:chExt cx="13614400" cy="411479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EEA7D002-0A20-BC57-FBAB-15BC9AECEB67}"/>
                </a:ext>
              </a:extLst>
            </p:cNvPr>
            <p:cNvSpPr/>
            <p:nvPr/>
          </p:nvSpPr>
          <p:spPr>
            <a:xfrm>
              <a:off x="535432" y="1467688"/>
              <a:ext cx="13614400" cy="411479"/>
            </a:xfrm>
            <a:prstGeom prst="roundRect">
              <a:avLst>
                <a:gd name="adj" fmla="val 15789"/>
              </a:avLst>
            </a:prstGeom>
            <a:solidFill>
              <a:srgbClr val="CCFBF1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4966B24F-6C09-9D01-364A-CF67F1CBED2E}"/>
                </a:ext>
              </a:extLst>
            </p:cNvPr>
            <p:cNvSpPr/>
            <p:nvPr/>
          </p:nvSpPr>
          <p:spPr>
            <a:xfrm>
              <a:off x="672592" y="1467688"/>
              <a:ext cx="13340080" cy="4114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암기 팁: COVERS — FinOps는 기술 비용의 모든 것을 커버한다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" name="Shape 4">
            <a:extLst>
              <a:ext uri="{FF2B5EF4-FFF2-40B4-BE49-F238E27FC236}">
                <a16:creationId xmlns:a16="http://schemas.microsoft.com/office/drawing/2014/main" id="{811216D9-3DCE-E1D6-1BC4-8F6621B8BD8C}"/>
              </a:ext>
            </a:extLst>
          </p:cNvPr>
          <p:cNvSpPr/>
          <p:nvPr/>
        </p:nvSpPr>
        <p:spPr>
          <a:xfrm>
            <a:off x="535432" y="2051663"/>
            <a:ext cx="4446693" cy="2107692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E0811B-4F03-85B5-32A6-E9F5C545FBE2}"/>
              </a:ext>
            </a:extLst>
          </p:cNvPr>
          <p:cNvSpPr/>
          <p:nvPr/>
        </p:nvSpPr>
        <p:spPr>
          <a:xfrm>
            <a:off x="535432" y="2051663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903E06B-3C87-1668-DA5F-D729E4A80180}"/>
              </a:ext>
            </a:extLst>
          </p:cNvPr>
          <p:cNvSpPr/>
          <p:nvPr/>
        </p:nvSpPr>
        <p:spPr>
          <a:xfrm>
            <a:off x="535432" y="2371703"/>
            <a:ext cx="4446693" cy="91440"/>
          </a:xfrm>
          <a:prstGeom prst="rect">
            <a:avLst/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9979BF-479B-D54C-09A7-DD12B4646978}"/>
              </a:ext>
            </a:extLst>
          </p:cNvPr>
          <p:cNvSpPr/>
          <p:nvPr/>
        </p:nvSpPr>
        <p:spPr>
          <a:xfrm>
            <a:off x="645160" y="213395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AD3A9CC-830C-4626-45B5-11E6B1153D45}"/>
              </a:ext>
            </a:extLst>
          </p:cNvPr>
          <p:cNvSpPr/>
          <p:nvPr/>
        </p:nvSpPr>
        <p:spPr>
          <a:xfrm>
            <a:off x="645160" y="213395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53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E7B66AE-87C6-FA4B-68C6-17C287C3EF14}"/>
              </a:ext>
            </a:extLst>
          </p:cNvPr>
          <p:cNvSpPr/>
          <p:nvPr/>
        </p:nvSpPr>
        <p:spPr>
          <a:xfrm>
            <a:off x="974344" y="2106527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Collaboration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F6DBC3D-AB0F-8B5F-FD35-ADF3996ABC15}"/>
              </a:ext>
            </a:extLst>
          </p:cNvPr>
          <p:cNvSpPr/>
          <p:nvPr/>
        </p:nvSpPr>
        <p:spPr>
          <a:xfrm>
            <a:off x="672592" y="2582789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 간 협업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37EA182-1E25-A0E2-EEF2-B57D45238A39}"/>
              </a:ext>
            </a:extLst>
          </p:cNvPr>
          <p:cNvSpPr/>
          <p:nvPr/>
        </p:nvSpPr>
        <p:spPr>
          <a:xfrm>
            <a:off x="672592" y="2916311"/>
            <a:ext cx="4172373" cy="77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엔지니어링·재무·비즈니스 팀이 함께 의사결정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사일로를 허물고 공통 목표를 향해 협력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68A97A8B-249C-5616-E6E0-9FA70FC0DDC8}"/>
              </a:ext>
            </a:extLst>
          </p:cNvPr>
          <p:cNvSpPr/>
          <p:nvPr/>
        </p:nvSpPr>
        <p:spPr>
          <a:xfrm>
            <a:off x="5119285" y="2051663"/>
            <a:ext cx="4446693" cy="2107692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BF27296-965A-0BD2-9FFF-231F693EDBB1}"/>
              </a:ext>
            </a:extLst>
          </p:cNvPr>
          <p:cNvSpPr/>
          <p:nvPr/>
        </p:nvSpPr>
        <p:spPr>
          <a:xfrm>
            <a:off x="5119285" y="2051663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8DD98239-0EEA-F231-29D8-F17C996FB920}"/>
              </a:ext>
            </a:extLst>
          </p:cNvPr>
          <p:cNvSpPr/>
          <p:nvPr/>
        </p:nvSpPr>
        <p:spPr>
          <a:xfrm>
            <a:off x="5119285" y="2371703"/>
            <a:ext cx="4446693" cy="91440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1C4C7DC-5732-22D7-A837-8F545FA0AAE2}"/>
              </a:ext>
            </a:extLst>
          </p:cNvPr>
          <p:cNvSpPr/>
          <p:nvPr/>
        </p:nvSpPr>
        <p:spPr>
          <a:xfrm>
            <a:off x="5229013" y="213395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1D2047F-681D-DA9F-4ABE-D5A4FA74AAD9}"/>
              </a:ext>
            </a:extLst>
          </p:cNvPr>
          <p:cNvSpPr/>
          <p:nvPr/>
        </p:nvSpPr>
        <p:spPr>
          <a:xfrm>
            <a:off x="5229013" y="213395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76A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203FC42-EC02-19D2-5EC4-6CA57CF192DB}"/>
              </a:ext>
            </a:extLst>
          </p:cNvPr>
          <p:cNvSpPr/>
          <p:nvPr/>
        </p:nvSpPr>
        <p:spPr>
          <a:xfrm>
            <a:off x="5558197" y="2106527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Ownership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BC2901F-6D4A-4DBD-E432-CA3DB23281AC}"/>
              </a:ext>
            </a:extLst>
          </p:cNvPr>
          <p:cNvSpPr/>
          <p:nvPr/>
        </p:nvSpPr>
        <p:spPr>
          <a:xfrm>
            <a:off x="5256445" y="2582789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모든 구성원의 오너십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C36E603-9487-AB69-B398-917CB9A0F92F}"/>
              </a:ext>
            </a:extLst>
          </p:cNvPr>
          <p:cNvSpPr/>
          <p:nvPr/>
        </p:nvSpPr>
        <p:spPr>
          <a:xfrm>
            <a:off x="5256445" y="2916311"/>
            <a:ext cx="4172373" cy="77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엔지니어와 PO가 클라우드 지출에 대한 책임 보유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"내가 만든 서비스의 비용은 내가 관리"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BA396B1-3CB5-9852-8BB0-4C7CF4746574}"/>
              </a:ext>
            </a:extLst>
          </p:cNvPr>
          <p:cNvSpPr/>
          <p:nvPr/>
        </p:nvSpPr>
        <p:spPr>
          <a:xfrm>
            <a:off x="9703139" y="2051663"/>
            <a:ext cx="4446693" cy="2107692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65A23F4-81FB-D716-4575-2A3DFFBE6BEA}"/>
              </a:ext>
            </a:extLst>
          </p:cNvPr>
          <p:cNvSpPr/>
          <p:nvPr/>
        </p:nvSpPr>
        <p:spPr>
          <a:xfrm>
            <a:off x="9703139" y="2051663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B8ECC2C5-46D4-F37F-8D26-9E94E8ADAE22}"/>
              </a:ext>
            </a:extLst>
          </p:cNvPr>
          <p:cNvSpPr/>
          <p:nvPr/>
        </p:nvSpPr>
        <p:spPr>
          <a:xfrm>
            <a:off x="9703139" y="2371703"/>
            <a:ext cx="4446693" cy="91440"/>
          </a:xfrm>
          <a:prstGeom prst="rect">
            <a:avLst/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69C9BED3-A36D-53D5-4FCF-E45FDECF1865}"/>
              </a:ext>
            </a:extLst>
          </p:cNvPr>
          <p:cNvSpPr/>
          <p:nvPr/>
        </p:nvSpPr>
        <p:spPr>
          <a:xfrm>
            <a:off x="9812867" y="2133959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261475F-F427-5D0D-F685-BCF9AE24B14B}"/>
              </a:ext>
            </a:extLst>
          </p:cNvPr>
          <p:cNvSpPr/>
          <p:nvPr/>
        </p:nvSpPr>
        <p:spPr>
          <a:xfrm>
            <a:off x="9812867" y="2133959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E3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A744BC5-C3F3-547B-483A-0D4540D75AE4}"/>
              </a:ext>
            </a:extLst>
          </p:cNvPr>
          <p:cNvSpPr/>
          <p:nvPr/>
        </p:nvSpPr>
        <p:spPr>
          <a:xfrm>
            <a:off x="10142051" y="2106527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Value-driven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BE99E60-3A69-9FE8-0B3C-8E2011FD0971}"/>
              </a:ext>
            </a:extLst>
          </p:cNvPr>
          <p:cNvSpPr/>
          <p:nvPr/>
        </p:nvSpPr>
        <p:spPr>
          <a:xfrm>
            <a:off x="9840299" y="2582789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 가치 중심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4B70017-BA71-8A17-3FBF-6CA02897FEF2}"/>
              </a:ext>
            </a:extLst>
          </p:cNvPr>
          <p:cNvSpPr/>
          <p:nvPr/>
        </p:nvSpPr>
        <p:spPr>
          <a:xfrm>
            <a:off x="9840299" y="2916311"/>
            <a:ext cx="4172373" cy="77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비용 절감이 아닌 투자 가치 극대화가 목표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 투자가 비즈니스 성과에 기여하는지 측정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061A3B43-AA63-1877-6129-045D1A22D132}"/>
              </a:ext>
            </a:extLst>
          </p:cNvPr>
          <p:cNvSpPr/>
          <p:nvPr/>
        </p:nvSpPr>
        <p:spPr>
          <a:xfrm>
            <a:off x="535432" y="4433368"/>
            <a:ext cx="4446693" cy="235457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2C070D28-A03E-01DC-840D-AF7B6A0D3D7D}"/>
              </a:ext>
            </a:extLst>
          </p:cNvPr>
          <p:cNvSpPr/>
          <p:nvPr/>
        </p:nvSpPr>
        <p:spPr>
          <a:xfrm>
            <a:off x="535432" y="4433368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46059950-2AB9-6DD8-6705-6D670A954A41}"/>
              </a:ext>
            </a:extLst>
          </p:cNvPr>
          <p:cNvSpPr/>
          <p:nvPr/>
        </p:nvSpPr>
        <p:spPr>
          <a:xfrm>
            <a:off x="535432" y="4753408"/>
            <a:ext cx="4446693" cy="91440"/>
          </a:xfrm>
          <a:prstGeom prst="rect">
            <a:avLst/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876F220-99AC-7A3A-6F35-37E04DBD628D}"/>
              </a:ext>
            </a:extLst>
          </p:cNvPr>
          <p:cNvSpPr/>
          <p:nvPr/>
        </p:nvSpPr>
        <p:spPr>
          <a:xfrm>
            <a:off x="645160" y="4515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0734828-B4E4-41B0-5A6F-E25E2E0C4A8F}"/>
              </a:ext>
            </a:extLst>
          </p:cNvPr>
          <p:cNvSpPr/>
          <p:nvPr/>
        </p:nvSpPr>
        <p:spPr>
          <a:xfrm>
            <a:off x="645160" y="4515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E7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B12A9717-D6DB-FA14-3C95-B71DC776C0B8}"/>
              </a:ext>
            </a:extLst>
          </p:cNvPr>
          <p:cNvSpPr/>
          <p:nvPr/>
        </p:nvSpPr>
        <p:spPr>
          <a:xfrm>
            <a:off x="974344" y="4488232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Elastic Utilization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1F7444CC-D3A1-8874-2E3C-28A9F9A0E900}"/>
              </a:ext>
            </a:extLst>
          </p:cNvPr>
          <p:cNvSpPr/>
          <p:nvPr/>
        </p:nvSpPr>
        <p:spPr>
          <a:xfrm>
            <a:off x="672592" y="4956745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탄력적 자원 활용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55594F6B-75CD-24A0-D0B8-75106CC019B2}"/>
              </a:ext>
            </a:extLst>
          </p:cNvPr>
          <p:cNvSpPr/>
          <p:nvPr/>
        </p:nvSpPr>
        <p:spPr>
          <a:xfrm>
            <a:off x="672592" y="5298016"/>
            <a:ext cx="4172373" cy="1022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사용하지 않는 용량 최소화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수요에 따라 탄력적으로 운영하여 효율 극대화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0360A024-BC9A-83F0-EC5F-4007DAF34520}"/>
              </a:ext>
            </a:extLst>
          </p:cNvPr>
          <p:cNvSpPr/>
          <p:nvPr/>
        </p:nvSpPr>
        <p:spPr>
          <a:xfrm>
            <a:off x="5119285" y="4433368"/>
            <a:ext cx="4446693" cy="235457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4128439A-06B6-04E2-BCBC-C1C2BB39C155}"/>
              </a:ext>
            </a:extLst>
          </p:cNvPr>
          <p:cNvSpPr/>
          <p:nvPr/>
        </p:nvSpPr>
        <p:spPr>
          <a:xfrm>
            <a:off x="5119285" y="4433368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E0BF7D6C-B07B-950F-A733-33745D2DDEB2}"/>
              </a:ext>
            </a:extLst>
          </p:cNvPr>
          <p:cNvSpPr/>
          <p:nvPr/>
        </p:nvSpPr>
        <p:spPr>
          <a:xfrm>
            <a:off x="5119285" y="4753408"/>
            <a:ext cx="4446693" cy="9144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82CEAF2-82AA-3E6B-0A7B-A2497CFADFD2}"/>
              </a:ext>
            </a:extLst>
          </p:cNvPr>
          <p:cNvSpPr/>
          <p:nvPr/>
        </p:nvSpPr>
        <p:spPr>
          <a:xfrm>
            <a:off x="5229013" y="4515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579976E8-D590-8DFB-1042-C515DB1F6DF4}"/>
              </a:ext>
            </a:extLst>
          </p:cNvPr>
          <p:cNvSpPr/>
          <p:nvPr/>
        </p:nvSpPr>
        <p:spPr>
          <a:xfrm>
            <a:off x="5229013" y="4515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1A1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684D0A1B-5485-EC33-666A-98B880DB8966}"/>
              </a:ext>
            </a:extLst>
          </p:cNvPr>
          <p:cNvSpPr/>
          <p:nvPr/>
        </p:nvSpPr>
        <p:spPr>
          <a:xfrm>
            <a:off x="5558197" y="4488232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Right-time Report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AA49BCCC-1203-E635-766C-5AE9B7697F2F}"/>
              </a:ext>
            </a:extLst>
          </p:cNvPr>
          <p:cNvSpPr/>
          <p:nvPr/>
        </p:nvSpPr>
        <p:spPr>
          <a:xfrm>
            <a:off x="5256445" y="4956745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적시 리포팅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68D7433C-DE9D-CB3A-595B-726B29BC9C1A}"/>
              </a:ext>
            </a:extLst>
          </p:cNvPr>
          <p:cNvSpPr/>
          <p:nvPr/>
        </p:nvSpPr>
        <p:spPr>
          <a:xfrm>
            <a:off x="5256445" y="5298016"/>
            <a:ext cx="4172373" cy="1022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투명한 비용 데이터를 실시간에 가까운 속도로 제공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데이터의 접근성·적시성·정확성 보장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BBC51533-6A85-FEFA-15E6-C02F3E08C5A5}"/>
              </a:ext>
            </a:extLst>
          </p:cNvPr>
          <p:cNvSpPr/>
          <p:nvPr/>
        </p:nvSpPr>
        <p:spPr>
          <a:xfrm>
            <a:off x="9703139" y="4433368"/>
            <a:ext cx="4446693" cy="2354578"/>
          </a:xfrm>
          <a:prstGeom prst="roundRect">
            <a:avLst>
              <a:gd name="adj" fmla="val 2544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96928609-E4FC-F83E-DA61-A9A41F626C1C}"/>
              </a:ext>
            </a:extLst>
          </p:cNvPr>
          <p:cNvSpPr/>
          <p:nvPr/>
        </p:nvSpPr>
        <p:spPr>
          <a:xfrm>
            <a:off x="9703139" y="4433368"/>
            <a:ext cx="4446693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9DB619BE-44CB-8088-734D-9CEF81E1EED7}"/>
              </a:ext>
            </a:extLst>
          </p:cNvPr>
          <p:cNvSpPr/>
          <p:nvPr/>
        </p:nvSpPr>
        <p:spPr>
          <a:xfrm>
            <a:off x="9703139" y="4753408"/>
            <a:ext cx="4446693" cy="914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B33B3EB0-33E1-9CF9-85F7-B0C694BE6124}"/>
              </a:ext>
            </a:extLst>
          </p:cNvPr>
          <p:cNvSpPr/>
          <p:nvPr/>
        </p:nvSpPr>
        <p:spPr>
          <a:xfrm>
            <a:off x="9812867" y="451566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32A5BF6A-3B12-F0D7-50E3-BB1F14D736F2}"/>
              </a:ext>
            </a:extLst>
          </p:cNvPr>
          <p:cNvSpPr/>
          <p:nvPr/>
        </p:nvSpPr>
        <p:spPr>
          <a:xfrm>
            <a:off x="9812867" y="45156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CEA3CA59-BB69-01D0-AEA3-EA43A52AEC50}"/>
              </a:ext>
            </a:extLst>
          </p:cNvPr>
          <p:cNvSpPr/>
          <p:nvPr/>
        </p:nvSpPr>
        <p:spPr>
          <a:xfrm>
            <a:off x="10142051" y="4488232"/>
            <a:ext cx="3898053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Steering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9612B612-12C6-C027-15A0-2DDC4EE6E50B}"/>
              </a:ext>
            </a:extLst>
          </p:cNvPr>
          <p:cNvSpPr/>
          <p:nvPr/>
        </p:nvSpPr>
        <p:spPr>
          <a:xfrm>
            <a:off x="9840299" y="4956745"/>
            <a:ext cx="417237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중앙 FinOps 팀의 운영 주도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632E04F0-F935-FC92-7BE0-C3A7AA0CBB59}"/>
              </a:ext>
            </a:extLst>
          </p:cNvPr>
          <p:cNvSpPr/>
          <p:nvPr/>
        </p:nvSpPr>
        <p:spPr>
          <a:xfrm>
            <a:off x="9840299" y="5298016"/>
            <a:ext cx="4172373" cy="1022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전사적 관점의 비용 거버넌스를 중앙 FinOps </a:t>
            </a:r>
            <a:r>
              <a:rPr lang="en-US" sz="14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팀이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b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en-US" sz="14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드라이브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sz="14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CCoE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Cost Center Of Excellence)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 설정은 중앙, 일상 실행은 각 팀 (연합 거버넌스)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5130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0A4F-7EF2-6F23-2FFB-0C8CD5FF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5FB9A666-3BF5-3BE9-6307-93B80264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FinOps 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FinOps 3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전략</a:t>
            </a:r>
            <a:endParaRPr lang="ko-KR" altLang="en-US" dirty="0"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92A69C7F-FC5A-D84B-26E9-740FA01E155B}"/>
              </a:ext>
            </a:extLst>
          </p:cNvPr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/sessions/lucid-compassionate-einstein/mnt/courseware/output/images/finops_lifecycle.png">
            <a:extLst>
              <a:ext uri="{FF2B5EF4-FFF2-40B4-BE49-F238E27FC236}">
                <a16:creationId xmlns:a16="http://schemas.microsoft.com/office/drawing/2014/main" id="{A33434A9-1206-4F8B-CF34-90318BAE1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726" y="1051560"/>
            <a:ext cx="5303520" cy="2743200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EF3CA9F6-A44E-D1CA-081D-981324450998}"/>
              </a:ext>
            </a:extLst>
          </p:cNvPr>
          <p:cNvSpPr/>
          <p:nvPr/>
        </p:nvSpPr>
        <p:spPr>
          <a:xfrm>
            <a:off x="6583680" y="1234440"/>
            <a:ext cx="7538314" cy="2377440"/>
          </a:xfrm>
          <a:prstGeom prst="roundRect">
            <a:avLst>
              <a:gd name="adj" fmla="val 3846"/>
            </a:avLst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6177328-BEE1-DA93-34C5-CD376C8F9A32}"/>
              </a:ext>
            </a:extLst>
          </p:cNvPr>
          <p:cNvSpPr/>
          <p:nvPr/>
        </p:nvSpPr>
        <p:spPr>
          <a:xfrm>
            <a:off x="6812280" y="141732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2DED3F5-4133-8EB3-5E4E-3D30E42E1800}"/>
              </a:ext>
            </a:extLst>
          </p:cNvPr>
          <p:cNvSpPr/>
          <p:nvPr/>
        </p:nvSpPr>
        <p:spPr>
          <a:xfrm>
            <a:off x="681228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반복적 순환 구조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DCA8A508-2A3B-42B9-7EBC-0F2C4B7FAA8E}"/>
              </a:ext>
            </a:extLst>
          </p:cNvPr>
          <p:cNvSpPr/>
          <p:nvPr/>
        </p:nvSpPr>
        <p:spPr>
          <a:xfrm>
            <a:off x="6812280" y="1874520"/>
            <a:ext cx="708111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보이기 → 줄이기 → 체계화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단계는 선형 완료가 아닌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반복적 순환(Iterative Cycle)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구조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성숙도가 높아짐에 따라 더 깊은 수준에서 각 단계를 재실행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8C8EF70-7EDE-4351-015A-EBA15CF3B60B}"/>
              </a:ext>
            </a:extLst>
          </p:cNvPr>
          <p:cNvSpPr/>
          <p:nvPr/>
        </p:nvSpPr>
        <p:spPr>
          <a:xfrm>
            <a:off x="508406" y="4069080"/>
            <a:ext cx="438546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22AC83D1-82EE-8ACC-FBB3-E84E3AC6A9CF}"/>
              </a:ext>
            </a:extLst>
          </p:cNvPr>
          <p:cNvSpPr/>
          <p:nvPr/>
        </p:nvSpPr>
        <p:spPr>
          <a:xfrm>
            <a:off x="508406" y="4069080"/>
            <a:ext cx="4385462" cy="484632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BBEFC7C-9017-2763-A129-1E74DF17C6F9}"/>
              </a:ext>
            </a:extLst>
          </p:cNvPr>
          <p:cNvSpPr/>
          <p:nvPr/>
        </p:nvSpPr>
        <p:spPr>
          <a:xfrm>
            <a:off x="508406" y="4069080"/>
            <a:ext cx="43854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보이기(Inform)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B368F8-8AA9-F1CA-7AF8-184E11B56B50}"/>
              </a:ext>
            </a:extLst>
          </p:cNvPr>
          <p:cNvSpPr/>
          <p:nvPr/>
        </p:nvSpPr>
        <p:spPr>
          <a:xfrm>
            <a:off x="645566" y="4599432"/>
            <a:ext cx="4111142" cy="2926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가시성 확보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02388ED-8097-D610-E1BD-FE2C83D6B30A}"/>
              </a:ext>
            </a:extLst>
          </p:cNvPr>
          <p:cNvSpPr/>
          <p:nvPr/>
        </p:nvSpPr>
        <p:spPr>
          <a:xfrm>
            <a:off x="508406" y="4937760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B87FD2-5830-256E-B8F9-353721376C34}"/>
              </a:ext>
            </a:extLst>
          </p:cNvPr>
          <p:cNvSpPr/>
          <p:nvPr/>
        </p:nvSpPr>
        <p:spPr>
          <a:xfrm>
            <a:off x="645566" y="493776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데이터 수집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554BAB-EF84-8F96-754B-0587D697141B}"/>
              </a:ext>
            </a:extLst>
          </p:cNvPr>
          <p:cNvSpPr/>
          <p:nvPr/>
        </p:nvSpPr>
        <p:spPr>
          <a:xfrm>
            <a:off x="645566" y="519379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CSP 청구 데이터를 중앙 집중화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BC19F04-27AD-6DB3-6D79-A16B8750C4E9}"/>
              </a:ext>
            </a:extLst>
          </p:cNvPr>
          <p:cNvSpPr/>
          <p:nvPr/>
        </p:nvSpPr>
        <p:spPr>
          <a:xfrm>
            <a:off x="508406" y="5532120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346222E-69A8-A2C0-BCB4-459B4550B715}"/>
              </a:ext>
            </a:extLst>
          </p:cNvPr>
          <p:cNvSpPr/>
          <p:nvPr/>
        </p:nvSpPr>
        <p:spPr>
          <a:xfrm>
            <a:off x="645566" y="553212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대시보드 구성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834DBF-EFD0-9A9D-D0BA-D66FDB1A149A}"/>
              </a:ext>
            </a:extLst>
          </p:cNvPr>
          <p:cNvSpPr/>
          <p:nvPr/>
        </p:nvSpPr>
        <p:spPr>
          <a:xfrm>
            <a:off x="645566" y="578815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팀별·서비스별 비용 현황 시각화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9148C02-634B-2C80-3712-0A1B66989B7A}"/>
              </a:ext>
            </a:extLst>
          </p:cNvPr>
          <p:cNvSpPr/>
          <p:nvPr/>
        </p:nvSpPr>
        <p:spPr>
          <a:xfrm>
            <a:off x="508406" y="6126480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E845986-5EEE-0311-B6A1-E8A6105CF5F2}"/>
              </a:ext>
            </a:extLst>
          </p:cNvPr>
          <p:cNvSpPr/>
          <p:nvPr/>
        </p:nvSpPr>
        <p:spPr>
          <a:xfrm>
            <a:off x="645566" y="612648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할당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A607F82-D255-25AD-EFCA-46828E334B3F}"/>
              </a:ext>
            </a:extLst>
          </p:cNvPr>
          <p:cNvSpPr/>
          <p:nvPr/>
        </p:nvSpPr>
        <p:spPr>
          <a:xfrm>
            <a:off x="645566" y="638251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 기반 부서·프로젝트 비용 할당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60B79A9-44FD-32DD-C24C-4537E449D12E}"/>
              </a:ext>
            </a:extLst>
          </p:cNvPr>
          <p:cNvSpPr/>
          <p:nvPr/>
        </p:nvSpPr>
        <p:spPr>
          <a:xfrm>
            <a:off x="508406" y="6720840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E877DE1-9F34-4192-1EBA-CCCF1D700A34}"/>
              </a:ext>
            </a:extLst>
          </p:cNvPr>
          <p:cNvSpPr/>
          <p:nvPr/>
        </p:nvSpPr>
        <p:spPr>
          <a:xfrm>
            <a:off x="645566" y="672084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비용 탐지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11665CE-9DBD-C36D-2B3B-2054635E6850}"/>
              </a:ext>
            </a:extLst>
          </p:cNvPr>
          <p:cNvSpPr/>
          <p:nvPr/>
        </p:nvSpPr>
        <p:spPr>
          <a:xfrm>
            <a:off x="645566" y="697687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예상 범위 벗어난 비용 급증 알림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03C2C73-6532-F354-7727-872718565542}"/>
              </a:ext>
            </a:extLst>
          </p:cNvPr>
          <p:cNvSpPr/>
          <p:nvPr/>
        </p:nvSpPr>
        <p:spPr>
          <a:xfrm>
            <a:off x="5122469" y="4069080"/>
            <a:ext cx="438546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7E119CE-FD5D-127A-A0C0-90D068C348A7}"/>
              </a:ext>
            </a:extLst>
          </p:cNvPr>
          <p:cNvSpPr/>
          <p:nvPr/>
        </p:nvSpPr>
        <p:spPr>
          <a:xfrm>
            <a:off x="5122469" y="4069080"/>
            <a:ext cx="4385462" cy="4846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6C58B2-269E-9A6F-7C2F-22953FEF28ED}"/>
              </a:ext>
            </a:extLst>
          </p:cNvPr>
          <p:cNvSpPr/>
          <p:nvPr/>
        </p:nvSpPr>
        <p:spPr>
          <a:xfrm>
            <a:off x="5122469" y="4069080"/>
            <a:ext cx="43854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줄이기(Optimize)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57A2BB6-3278-99C6-F12B-BD086E3DE8FC}"/>
              </a:ext>
            </a:extLst>
          </p:cNvPr>
          <p:cNvSpPr/>
          <p:nvPr/>
        </p:nvSpPr>
        <p:spPr>
          <a:xfrm>
            <a:off x="5259629" y="4599432"/>
            <a:ext cx="4111142" cy="2926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효율화 실행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5CCF046-F7D2-AE0A-8AA3-159130DAB2C7}"/>
              </a:ext>
            </a:extLst>
          </p:cNvPr>
          <p:cNvSpPr/>
          <p:nvPr/>
        </p:nvSpPr>
        <p:spPr>
          <a:xfrm>
            <a:off x="5122469" y="4937760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28DC90E-FCE8-6BD9-3273-B6C88B2CD583}"/>
              </a:ext>
            </a:extLst>
          </p:cNvPr>
          <p:cNvSpPr/>
          <p:nvPr/>
        </p:nvSpPr>
        <p:spPr>
          <a:xfrm>
            <a:off x="5259629" y="493776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미사용 리소스 제거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23EEF85-EFDD-212D-7B53-A41E56DF2845}"/>
              </a:ext>
            </a:extLst>
          </p:cNvPr>
          <p:cNvSpPr/>
          <p:nvPr/>
        </p:nvSpPr>
        <p:spPr>
          <a:xfrm>
            <a:off x="5259629" y="519379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유휴 인스턴스, 미연결 볼륨 정리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EF89734-4E57-F44B-AEB2-CE26DCB82C9A}"/>
              </a:ext>
            </a:extLst>
          </p:cNvPr>
          <p:cNvSpPr/>
          <p:nvPr/>
        </p:nvSpPr>
        <p:spPr>
          <a:xfrm>
            <a:off x="5122469" y="5532120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CC15143-2B79-B2AF-5DDA-CA6F23A2AA91}"/>
              </a:ext>
            </a:extLst>
          </p:cNvPr>
          <p:cNvSpPr/>
          <p:nvPr/>
        </p:nvSpPr>
        <p:spPr>
          <a:xfrm>
            <a:off x="5259629" y="553212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Right-sizing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255470C-66B8-A1D7-12E4-20389DB0A146}"/>
              </a:ext>
            </a:extLst>
          </p:cNvPr>
          <p:cNvSpPr/>
          <p:nvPr/>
        </p:nvSpPr>
        <p:spPr>
          <a:xfrm>
            <a:off x="5259629" y="578815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과잉 프로비저닝 리소스 적정 조정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EFDF4C7-2A04-CE34-EA61-0DB20A36A885}"/>
              </a:ext>
            </a:extLst>
          </p:cNvPr>
          <p:cNvSpPr/>
          <p:nvPr/>
        </p:nvSpPr>
        <p:spPr>
          <a:xfrm>
            <a:off x="5122469" y="6126480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60FE893-044A-3FEB-06AF-5D3050118D8B}"/>
              </a:ext>
            </a:extLst>
          </p:cNvPr>
          <p:cNvSpPr/>
          <p:nvPr/>
        </p:nvSpPr>
        <p:spPr>
          <a:xfrm>
            <a:off x="5259629" y="612648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약정 할인 적용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BDC7CC8-E5E8-5127-12D0-88F3BEC072BA}"/>
              </a:ext>
            </a:extLst>
          </p:cNvPr>
          <p:cNvSpPr/>
          <p:nvPr/>
        </p:nvSpPr>
        <p:spPr>
          <a:xfrm>
            <a:off x="5259629" y="638251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RI/Savings Plans 비용 절감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D3EBD56-6991-A7B8-B6C4-984BDADCB28E}"/>
              </a:ext>
            </a:extLst>
          </p:cNvPr>
          <p:cNvSpPr/>
          <p:nvPr/>
        </p:nvSpPr>
        <p:spPr>
          <a:xfrm>
            <a:off x="5122469" y="6720840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40B8128-C78C-89CF-BD71-E2D55D2EA9C3}"/>
              </a:ext>
            </a:extLst>
          </p:cNvPr>
          <p:cNvSpPr/>
          <p:nvPr/>
        </p:nvSpPr>
        <p:spPr>
          <a:xfrm>
            <a:off x="5259629" y="672084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스케일링 정책 최적화 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C9F540D-ADA5-3FD7-D426-FA61DA4B0035}"/>
              </a:ext>
            </a:extLst>
          </p:cNvPr>
          <p:cNvSpPr/>
          <p:nvPr/>
        </p:nvSpPr>
        <p:spPr>
          <a:xfrm>
            <a:off x="5259629" y="697687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HPA/VPA/</a:t>
            </a:r>
            <a:r>
              <a:rPr lang="ko-KR" alt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노드의 오토 스케일링 정책 튜닝</a:t>
            </a:r>
            <a:endParaRPr lang="en-US" sz="1200" dirty="0">
              <a:solidFill>
                <a:srgbClr val="59636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E767863-16A4-6F6F-25B7-D19DDCD28748}"/>
              </a:ext>
            </a:extLst>
          </p:cNvPr>
          <p:cNvSpPr/>
          <p:nvPr/>
        </p:nvSpPr>
        <p:spPr>
          <a:xfrm>
            <a:off x="9736531" y="4069080"/>
            <a:ext cx="438546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C22DEB0-465C-2E0E-D57E-41A149BAD7B2}"/>
              </a:ext>
            </a:extLst>
          </p:cNvPr>
          <p:cNvSpPr/>
          <p:nvPr/>
        </p:nvSpPr>
        <p:spPr>
          <a:xfrm>
            <a:off x="9736531" y="4069080"/>
            <a:ext cx="4385462" cy="4846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7B9A14D3-9EBC-1796-2C8C-10126390B293}"/>
              </a:ext>
            </a:extLst>
          </p:cNvPr>
          <p:cNvSpPr/>
          <p:nvPr/>
        </p:nvSpPr>
        <p:spPr>
          <a:xfrm>
            <a:off x="9736531" y="4069080"/>
            <a:ext cx="43854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체계화(Operate)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DD8AC29-8DF7-A42B-AD3E-38065CAC7A86}"/>
              </a:ext>
            </a:extLst>
          </p:cNvPr>
          <p:cNvSpPr/>
          <p:nvPr/>
        </p:nvSpPr>
        <p:spPr>
          <a:xfrm>
            <a:off x="9873691" y="4599432"/>
            <a:ext cx="4111142" cy="2926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지속적 거버넌스 운영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3C376BA-9547-3217-673D-5179F6741D7A}"/>
              </a:ext>
            </a:extLst>
          </p:cNvPr>
          <p:cNvSpPr/>
          <p:nvPr/>
        </p:nvSpPr>
        <p:spPr>
          <a:xfrm>
            <a:off x="9736531" y="4937760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826CF4F1-BE82-DC24-DB11-4913AC9BE112}"/>
              </a:ext>
            </a:extLst>
          </p:cNvPr>
          <p:cNvSpPr/>
          <p:nvPr/>
        </p:nvSpPr>
        <p:spPr>
          <a:xfrm>
            <a:off x="9873691" y="4937760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 경제와 </a:t>
            </a:r>
            <a:r>
              <a:rPr lang="en-US" altLang="ko-KR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KPI </a:t>
            </a:r>
            <a:r>
              <a:rPr lang="ko-KR" alt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E4A4DF53-A0F0-D73E-7E65-977A4540F51C}"/>
              </a:ext>
            </a:extLst>
          </p:cNvPr>
          <p:cNvSpPr/>
          <p:nvPr/>
        </p:nvSpPr>
        <p:spPr>
          <a:xfrm>
            <a:off x="9873691" y="5193792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Biz </a:t>
            </a:r>
            <a:r>
              <a:rPr lang="ko-KR" alt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성과의 단위당 비용 측정 포함 </a:t>
            </a:r>
            <a:r>
              <a:rPr lang="en-US" altLang="ko-KR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KPI </a:t>
            </a:r>
            <a:r>
              <a:rPr lang="ko-KR" alt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9F7BD3E9-981C-B777-3C2D-0F77261E440D}"/>
              </a:ext>
            </a:extLst>
          </p:cNvPr>
          <p:cNvSpPr/>
          <p:nvPr/>
        </p:nvSpPr>
        <p:spPr>
          <a:xfrm>
            <a:off x="9736531" y="5532120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F445D96-868E-3250-43A0-332F9EDF3614}"/>
              </a:ext>
            </a:extLst>
          </p:cNvPr>
          <p:cNvSpPr/>
          <p:nvPr/>
        </p:nvSpPr>
        <p:spPr>
          <a:xfrm>
            <a:off x="9736532" y="5481442"/>
            <a:ext cx="4385462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52E52D52-3957-40F3-3575-F1EB54EFFF18}"/>
              </a:ext>
            </a:extLst>
          </p:cNvPr>
          <p:cNvSpPr/>
          <p:nvPr/>
        </p:nvSpPr>
        <p:spPr>
          <a:xfrm>
            <a:off x="9873692" y="5481442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자동화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722F7B3-5A60-F7E9-762B-7068136ACDA4}"/>
              </a:ext>
            </a:extLst>
          </p:cNvPr>
          <p:cNvSpPr/>
          <p:nvPr/>
        </p:nvSpPr>
        <p:spPr>
          <a:xfrm>
            <a:off x="9873692" y="5737474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최적화 </a:t>
            </a:r>
            <a:r>
              <a:rPr lang="en-US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파이프라인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구축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예산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대비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실적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추적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초과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알림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EDD8418F-E38F-E6BC-3E5E-CD7BF6502C42}"/>
              </a:ext>
            </a:extLst>
          </p:cNvPr>
          <p:cNvSpPr/>
          <p:nvPr/>
        </p:nvSpPr>
        <p:spPr>
          <a:xfrm>
            <a:off x="9736532" y="6075802"/>
            <a:ext cx="4385462" cy="594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7706C6C-DCE1-A552-8930-1E0343FB9DD4}"/>
              </a:ext>
            </a:extLst>
          </p:cNvPr>
          <p:cNvSpPr/>
          <p:nvPr/>
        </p:nvSpPr>
        <p:spPr>
          <a:xfrm>
            <a:off x="9873692" y="6075802"/>
            <a:ext cx="4111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협업</a:t>
            </a: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문화와 거버넌스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84DCAC03-791F-25D9-9B3C-273D6D06FB8D}"/>
              </a:ext>
            </a:extLst>
          </p:cNvPr>
          <p:cNvSpPr/>
          <p:nvPr/>
        </p:nvSpPr>
        <p:spPr>
          <a:xfrm>
            <a:off x="9873692" y="6331834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리뷰 미팅,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태깅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한도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승인</a:t>
            </a:r>
            <a:r>
              <a:rPr lang="en-US" altLang="ko-KR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절차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en-US" sz="1200" dirty="0" err="1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셀프서비스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86A5D8E5-BE64-2992-1BC4-1B1E5C7430CA}"/>
              </a:ext>
            </a:extLst>
          </p:cNvPr>
          <p:cNvSpPr/>
          <p:nvPr/>
        </p:nvSpPr>
        <p:spPr>
          <a:xfrm>
            <a:off x="508406" y="7360920"/>
            <a:ext cx="136135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※ </a:t>
            </a: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보이기 단계가 가장 기본이며, 비용 가시성 없이는 최적화도 거버넌스도 불가능. </a:t>
            </a:r>
            <a:r>
              <a:rPr lang="en-US" sz="1200" i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"측정할 수 없으면 관리할 수 없다" — 피터 드러커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2798F4B-3395-A121-ABF4-5D04FDADFE72}"/>
              </a:ext>
            </a:extLst>
          </p:cNvPr>
          <p:cNvSpPr/>
          <p:nvPr/>
        </p:nvSpPr>
        <p:spPr>
          <a:xfrm>
            <a:off x="508406" y="7635240"/>
            <a:ext cx="13613587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슬라이드 번호 개체 틀 58">
            <a:extLst>
              <a:ext uri="{FF2B5EF4-FFF2-40B4-BE49-F238E27FC236}">
                <a16:creationId xmlns:a16="http://schemas.microsoft.com/office/drawing/2014/main" id="{2F553EF6-54CB-45E2-149B-CEB8D2130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6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273836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B5A0-F6EC-1C06-8F82-A739C498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359B7796-5D2A-F8D2-D01A-1C0E3822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보이기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(Inform): 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비용 탐지 체계</a:t>
            </a:r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36C19C2-DB55-AE4A-4BF0-C80EAA85D859}"/>
              </a:ext>
            </a:extLst>
          </p:cNvPr>
          <p:cNvSpPr/>
          <p:nvPr/>
        </p:nvSpPr>
        <p:spPr>
          <a:xfrm>
            <a:off x="508406" y="1439011"/>
            <a:ext cx="440375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D347303-5447-99FA-92E5-1A146E0D7EA8}"/>
              </a:ext>
            </a:extLst>
          </p:cNvPr>
          <p:cNvSpPr/>
          <p:nvPr/>
        </p:nvSpPr>
        <p:spPr>
          <a:xfrm>
            <a:off x="508406" y="1439011"/>
            <a:ext cx="4403750" cy="384048"/>
          </a:xfrm>
          <a:prstGeom prst="rect">
            <a:avLst/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F8624EB-B7E3-BBDC-90E3-4712943518B9}"/>
              </a:ext>
            </a:extLst>
          </p:cNvPr>
          <p:cNvSpPr/>
          <p:nvPr/>
        </p:nvSpPr>
        <p:spPr>
          <a:xfrm>
            <a:off x="508406" y="1439011"/>
            <a:ext cx="4403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AWS 비용 도구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9FA7204-EE3D-E5C5-3387-75218B838849}"/>
              </a:ext>
            </a:extLst>
          </p:cNvPr>
          <p:cNvSpPr/>
          <p:nvPr/>
        </p:nvSpPr>
        <p:spPr>
          <a:xfrm>
            <a:off x="645566" y="1932787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 Explorer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서비스·리전·태그별 비용 시각화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5EAE514-3E33-EFD3-9A13-A49BFC83D47F}"/>
              </a:ext>
            </a:extLst>
          </p:cNvPr>
          <p:cNvSpPr/>
          <p:nvPr/>
        </p:nvSpPr>
        <p:spPr>
          <a:xfrm>
            <a:off x="645566" y="2280259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Budgets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예산 설정 및 초과 알림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01BC66C-0C22-91E2-91C3-FF7E2625576B}"/>
              </a:ext>
            </a:extLst>
          </p:cNvPr>
          <p:cNvSpPr/>
          <p:nvPr/>
        </p:nvSpPr>
        <p:spPr>
          <a:xfrm>
            <a:off x="645566" y="2627731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CUR 2.0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상세 비용 데이터 (S3 저장)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62DF9116-FCF9-C85B-2123-DE2A8CAE6160}"/>
              </a:ext>
            </a:extLst>
          </p:cNvPr>
          <p:cNvSpPr/>
          <p:nvPr/>
        </p:nvSpPr>
        <p:spPr>
          <a:xfrm>
            <a:off x="645566" y="2975203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Compute Optimizer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Right-sizing 자동 권고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C033CF41-8B27-C424-EAC5-9C611AD5CE0C}"/>
              </a:ext>
            </a:extLst>
          </p:cNvPr>
          <p:cNvSpPr/>
          <p:nvPr/>
        </p:nvSpPr>
        <p:spPr>
          <a:xfrm>
            <a:off x="645566" y="3322675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Trusted Advisor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비용·보안·성능 최적화 권고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269EE91-3BED-17A7-5C67-4016E66903DC}"/>
              </a:ext>
            </a:extLst>
          </p:cNvPr>
          <p:cNvSpPr/>
          <p:nvPr/>
        </p:nvSpPr>
        <p:spPr>
          <a:xfrm>
            <a:off x="5113325" y="1439011"/>
            <a:ext cx="440375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D7FC7E6-39CE-E811-7AA0-CB057A9DAFE4}"/>
              </a:ext>
            </a:extLst>
          </p:cNvPr>
          <p:cNvSpPr/>
          <p:nvPr/>
        </p:nvSpPr>
        <p:spPr>
          <a:xfrm>
            <a:off x="5113325" y="1439011"/>
            <a:ext cx="4403750" cy="384048"/>
          </a:xfrm>
          <a:prstGeom prst="rect">
            <a:avLst/>
          </a:prstGeom>
          <a:solidFill>
            <a:srgbClr val="1A5E7E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6598BDEB-67B4-4127-90F6-B7B262C489DE}"/>
              </a:ext>
            </a:extLst>
          </p:cNvPr>
          <p:cNvSpPr/>
          <p:nvPr/>
        </p:nvSpPr>
        <p:spPr>
          <a:xfrm>
            <a:off x="5113325" y="1439011"/>
            <a:ext cx="4403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Azure 비용 도구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192A58DE-1BF8-C852-91B6-BA8165B371F7}"/>
              </a:ext>
            </a:extLst>
          </p:cNvPr>
          <p:cNvSpPr/>
          <p:nvPr/>
        </p:nvSpPr>
        <p:spPr>
          <a:xfrm>
            <a:off x="5250485" y="1932787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 Management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비용 분석·예산·알림 통합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A290B06-75E8-A9D8-6DEF-F3841452F862}"/>
              </a:ext>
            </a:extLst>
          </p:cNvPr>
          <p:cNvSpPr/>
          <p:nvPr/>
        </p:nvSpPr>
        <p:spPr>
          <a:xfrm>
            <a:off x="5250485" y="2280259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Azure Advisor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비용·성능·보안 권고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762C738-F979-58C0-E7E9-3E88C712DE83}"/>
              </a:ext>
            </a:extLst>
          </p:cNvPr>
          <p:cNvSpPr/>
          <p:nvPr/>
        </p:nvSpPr>
        <p:spPr>
          <a:xfrm>
            <a:off x="5250485" y="2627731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Azure Reservations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RI 구매·관리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5E818CCD-9FE0-34B8-535E-65989CF86CE3}"/>
              </a:ext>
            </a:extLst>
          </p:cNvPr>
          <p:cNvSpPr/>
          <p:nvPr/>
        </p:nvSpPr>
        <p:spPr>
          <a:xfrm>
            <a:off x="5250485" y="2975203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toolkit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Azure 환경 FinOps 자동화 (오픈소스)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D3C02F71-6922-0BFF-7A11-4372850C1744}"/>
              </a:ext>
            </a:extLst>
          </p:cNvPr>
          <p:cNvSpPr/>
          <p:nvPr/>
        </p:nvSpPr>
        <p:spPr>
          <a:xfrm>
            <a:off x="9718243" y="1439011"/>
            <a:ext cx="440375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3B7AE840-2C8D-63CB-883C-BA60B9DD02D7}"/>
              </a:ext>
            </a:extLst>
          </p:cNvPr>
          <p:cNvSpPr/>
          <p:nvPr/>
        </p:nvSpPr>
        <p:spPr>
          <a:xfrm>
            <a:off x="9718243" y="1439011"/>
            <a:ext cx="4403750" cy="384048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EA3E6DD9-A767-FF40-CE87-6201813AE528}"/>
              </a:ext>
            </a:extLst>
          </p:cNvPr>
          <p:cNvSpPr/>
          <p:nvPr/>
        </p:nvSpPr>
        <p:spPr>
          <a:xfrm>
            <a:off x="9718243" y="1439011"/>
            <a:ext cx="44037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GCP 비용 도구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F2CC3AD5-6ED3-89B3-B186-CE3DC5A4819F}"/>
              </a:ext>
            </a:extLst>
          </p:cNvPr>
          <p:cNvSpPr/>
          <p:nvPr/>
        </p:nvSpPr>
        <p:spPr>
          <a:xfrm>
            <a:off x="9855403" y="1932787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Cloud Billing Reports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비용 시각화·분석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68995524-8E37-EBB7-25E0-189BC7FAAA21}"/>
              </a:ext>
            </a:extLst>
          </p:cNvPr>
          <p:cNvSpPr/>
          <p:nvPr/>
        </p:nvSpPr>
        <p:spPr>
          <a:xfrm>
            <a:off x="9855403" y="2280259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Recommender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AI 기반 비용 권고 (Active Assist)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D9858FD-6A2B-C4A5-72E7-84FC5FC7C3DC}"/>
              </a:ext>
            </a:extLst>
          </p:cNvPr>
          <p:cNvSpPr/>
          <p:nvPr/>
        </p:nvSpPr>
        <p:spPr>
          <a:xfrm>
            <a:off x="9855403" y="2627731"/>
            <a:ext cx="41294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CUD</a:t>
            </a: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약정 할인 (Committed Use Discounts)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5E7D4C15-F475-65AB-FDEA-80A0F0FF0ABA}"/>
              </a:ext>
            </a:extLst>
          </p:cNvPr>
          <p:cNvSpPr/>
          <p:nvPr/>
        </p:nvSpPr>
        <p:spPr>
          <a:xfrm>
            <a:off x="508406" y="4000675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D594046-991F-1B53-5C9F-FA4D5ECD4012}"/>
              </a:ext>
            </a:extLst>
          </p:cNvPr>
          <p:cNvSpPr/>
          <p:nvPr/>
        </p:nvSpPr>
        <p:spPr>
          <a:xfrm>
            <a:off x="508406" y="400067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데이터 자동 수집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46BDFE48-B474-F382-4DB8-7132FEF7B04C}"/>
              </a:ext>
            </a:extLst>
          </p:cNvPr>
          <p:cNvSpPr/>
          <p:nvPr/>
        </p:nvSpPr>
        <p:spPr>
          <a:xfrm>
            <a:off x="3251606" y="4000675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설정 한 번으로 자동 적재 — 별도 스크립트 불필요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E7224453-CE15-5ADF-EEA2-F52AD92A9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368320"/>
              </p:ext>
            </p:extLst>
          </p:nvPr>
        </p:nvGraphicFramePr>
        <p:xfrm>
          <a:off x="508407" y="4427082"/>
          <a:ext cx="5938888" cy="2881048"/>
        </p:xfrm>
        <a:graphic>
          <a:graphicData uri="http://schemas.openxmlformats.org/drawingml/2006/table">
            <a:tbl>
              <a:tblPr/>
              <a:tblGrid>
                <a:gridCol w="816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3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00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CSP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수집 방법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적재 대상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AWS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CUR 2.0 (Cost and Usage Report)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S3 버킷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일별/시간별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0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Azure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Cost Management Exports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Storage Account (Blob)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일별 자동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GCP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Cloud Billing Export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BigQuery 테이블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준실시간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Shape 27">
            <a:extLst>
              <a:ext uri="{FF2B5EF4-FFF2-40B4-BE49-F238E27FC236}">
                <a16:creationId xmlns:a16="http://schemas.microsoft.com/office/drawing/2014/main" id="{7400CCB6-3159-8367-6C19-BACF066CB681}"/>
              </a:ext>
            </a:extLst>
          </p:cNvPr>
          <p:cNvSpPr/>
          <p:nvPr/>
        </p:nvSpPr>
        <p:spPr>
          <a:xfrm>
            <a:off x="6773875" y="4000675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F42FFCA8-5E3A-2F8A-6E19-9985D1EBB105}"/>
              </a:ext>
            </a:extLst>
          </p:cNvPr>
          <p:cNvSpPr/>
          <p:nvPr/>
        </p:nvSpPr>
        <p:spPr>
          <a:xfrm>
            <a:off x="6773875" y="400067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비용 탐지 체계</a:t>
            </a:r>
            <a:endParaRPr lang="en-US" sz="1300" dirty="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A74AFD20-0B24-D53F-1508-D8F6B7E9F04C}"/>
              </a:ext>
            </a:extLst>
          </p:cNvPr>
          <p:cNvSpPr/>
          <p:nvPr/>
        </p:nvSpPr>
        <p:spPr>
          <a:xfrm>
            <a:off x="9517075" y="4000675"/>
            <a:ext cx="46299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→ 분석 → 탐지 → 대응 → 예측</a:t>
            </a:r>
            <a:endParaRPr lang="en-US" sz="1300" dirty="0"/>
          </a:p>
        </p:txBody>
      </p:sp>
      <p:graphicFrame>
        <p:nvGraphicFramePr>
          <p:cNvPr id="41" name="Table 1">
            <a:extLst>
              <a:ext uri="{FF2B5EF4-FFF2-40B4-BE49-F238E27FC236}">
                <a16:creationId xmlns:a16="http://schemas.microsoft.com/office/drawing/2014/main" id="{2FFBFF23-9EF0-45C7-C849-9F91F8D97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99966"/>
              </p:ext>
            </p:extLst>
          </p:nvPr>
        </p:nvGraphicFramePr>
        <p:xfrm>
          <a:off x="6773876" y="4427082"/>
          <a:ext cx="7348118" cy="2881050"/>
        </p:xfrm>
        <a:graphic>
          <a:graphicData uri="http://schemas.openxmlformats.org/drawingml/2006/table">
            <a:tbl>
              <a:tblPr/>
              <a:tblGrid>
                <a:gridCol w="59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41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도구/방법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CSP 청구 데이터 자동 중앙화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CUR 2.0, Azure Exports, BigQuery Export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일별/주별 비용 추이 파악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대시보드, 시계열 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탐지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 범위 벗어난 비용 식별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Anomaly Detection 알림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 분석 및 조치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태그 기반 추적, 팀 </a:t>
                      </a:r>
                      <a:r>
                        <a:rPr lang="en-US" sz="1200" dirty="0" err="1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알림</a:t>
                      </a: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권고</a:t>
                      </a:r>
                      <a:r>
                        <a:rPr lang="en-US" altLang="ko-KR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적용</a:t>
                      </a:r>
                      <a:r>
                        <a:rPr lang="en-US" altLang="ko-KR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  <a:sym typeface="Wingdings" panose="05000000000000000000" pitchFamily="2" charset="2"/>
                        </a:rPr>
                        <a:t>검증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1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월말 비용 예측 및 예산 대비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Forecasting, 트렌드 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Text 30">
            <a:extLst>
              <a:ext uri="{FF2B5EF4-FFF2-40B4-BE49-F238E27FC236}">
                <a16:creationId xmlns:a16="http://schemas.microsoft.com/office/drawing/2014/main" id="{BBECCE12-6423-BAC3-DDA6-53BA35D6E1BC}"/>
              </a:ext>
            </a:extLst>
          </p:cNvPr>
          <p:cNvSpPr/>
          <p:nvPr/>
        </p:nvSpPr>
        <p:spPr>
          <a:xfrm>
            <a:off x="483383" y="7492720"/>
            <a:ext cx="13663633" cy="298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B6B7B"/>
                </a:solidFill>
              </a:rPr>
              <a:t>※ </a:t>
            </a:r>
            <a:r>
              <a:rPr lang="en-US" sz="1200" dirty="0">
                <a:solidFill>
                  <a:srgbClr val="6B6B7B"/>
                </a:solidFill>
              </a:rPr>
              <a:t>멀티클라우드 환경에서는 FOCUS(FinOps Open Cost &amp; Usage Specification) 표준 기반 통합 파이프라인 권장. </a:t>
            </a:r>
            <a:r>
              <a:rPr lang="en-US" sz="1200" i="1" dirty="0">
                <a:solidFill>
                  <a:srgbClr val="0D9488"/>
                </a:solidFill>
              </a:rPr>
              <a:t>57% 조직이 FOCUS 도입 계획 (State of FinOps 2025)</a:t>
            </a:r>
            <a:endParaRPr lang="en-US" sz="12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D932B4E2-57C6-A1FD-37D9-5A8CCA9DC1CE}"/>
              </a:ext>
            </a:extLst>
          </p:cNvPr>
          <p:cNvSpPr/>
          <p:nvPr/>
        </p:nvSpPr>
        <p:spPr>
          <a:xfrm>
            <a:off x="508000" y="1074420"/>
            <a:ext cx="136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</a:t>
            </a:r>
            <a:r>
              <a:rPr lang="en-US" altLang="ko-KR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분석</a:t>
            </a:r>
            <a:r>
              <a:rPr lang="en-US" altLang="ko-KR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탐지</a:t>
            </a:r>
            <a:r>
              <a:rPr lang="en-US" altLang="ko-KR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대응</a:t>
            </a:r>
            <a:r>
              <a:rPr lang="en-US" altLang="ko-KR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Wingdings" panose="05000000000000000000" pitchFamily="2" charset="2"/>
              </a:rPr>
              <a:t>예측 체계 구축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281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D2862-D7A6-5ABE-C7EB-7E257493C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31AA0398-EE64-9FA3-A5B6-DEB3C20E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보이기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(Inform)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태그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할당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4247FE-384C-1887-1B13-50D79935D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8</a:t>
            </a:fld>
            <a:endParaRPr kumimoji="1" lang="ko-Kore-KR" alt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A43B8EDA-D37B-6D25-A68C-7FCA95F27707}"/>
              </a:ext>
            </a:extLst>
          </p:cNvPr>
          <p:cNvSpPr/>
          <p:nvPr/>
        </p:nvSpPr>
        <p:spPr>
          <a:xfrm>
            <a:off x="508000" y="1074420"/>
            <a:ext cx="136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조직/환경 등으로 태깅하여 비용 추적 및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할당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B7A1DFA-20DF-3537-9E9C-4C55AB46CE15}"/>
              </a:ext>
            </a:extLst>
          </p:cNvPr>
          <p:cNvSpPr/>
          <p:nvPr/>
        </p:nvSpPr>
        <p:spPr>
          <a:xfrm>
            <a:off x="508000" y="1485900"/>
            <a:ext cx="136144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90FDD21F-1592-D917-9027-D323CD718527}"/>
              </a:ext>
            </a:extLst>
          </p:cNvPr>
          <p:cNvSpPr/>
          <p:nvPr/>
        </p:nvSpPr>
        <p:spPr>
          <a:xfrm>
            <a:off x="736600" y="1504188"/>
            <a:ext cx="131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태깅의 목적 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비용을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누가, 왜, 어디에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사용했는지 추적  |  태그 미적용 리소스 비율을 </a:t>
            </a:r>
            <a:r>
              <a:rPr lang="en-US" sz="1400" b="1" dirty="0">
                <a:solidFill>
                  <a:srgbClr val="05966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5% 이하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유지하는 것이 목표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AB531E0D-9775-C6F3-2F6D-679E3131FD63}"/>
              </a:ext>
            </a:extLst>
          </p:cNvPr>
          <p:cNvSpPr/>
          <p:nvPr/>
        </p:nvSpPr>
        <p:spPr>
          <a:xfrm>
            <a:off x="508000" y="208026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5582DB8B-070C-563C-F9D5-E7467797B72F}"/>
              </a:ext>
            </a:extLst>
          </p:cNvPr>
          <p:cNvSpPr/>
          <p:nvPr/>
        </p:nvSpPr>
        <p:spPr>
          <a:xfrm>
            <a:off x="508000" y="20802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필수 태그 체계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100101C8-F599-F4F3-8BD0-5BA11CD99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122513"/>
              </p:ext>
            </p:extLst>
          </p:nvPr>
        </p:nvGraphicFramePr>
        <p:xfrm>
          <a:off x="508000" y="2464308"/>
          <a:ext cx="13614400" cy="2176272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8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태그 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예시 값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Department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개발팀, 마케팅팀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부서별 비용 추적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Project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order-service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프로젝트별 비용 할당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CostCenter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CC-1234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비용센터 연계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Environment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prod, staging, dev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환경별 비용 분리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Service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payment-api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서비스별 비용 추적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Owner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team-platform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책임자 식별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9">
            <a:extLst>
              <a:ext uri="{FF2B5EF4-FFF2-40B4-BE49-F238E27FC236}">
                <a16:creationId xmlns:a16="http://schemas.microsoft.com/office/drawing/2014/main" id="{4A25EC45-2968-9CFB-EA4B-973A5E021B39}"/>
              </a:ext>
            </a:extLst>
          </p:cNvPr>
          <p:cNvSpPr/>
          <p:nvPr/>
        </p:nvSpPr>
        <p:spPr>
          <a:xfrm>
            <a:off x="508000" y="4869180"/>
            <a:ext cx="155448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9A8EEF0-F8AD-6721-F64E-E0F542B2737D}"/>
              </a:ext>
            </a:extLst>
          </p:cNvPr>
          <p:cNvSpPr/>
          <p:nvPr/>
        </p:nvSpPr>
        <p:spPr>
          <a:xfrm>
            <a:off x="508000" y="48691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 거버넌스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F624C191-75DD-AF9D-E4D2-CAC1CCD0E65B}"/>
              </a:ext>
            </a:extLst>
          </p:cNvPr>
          <p:cNvSpPr/>
          <p:nvPr/>
        </p:nvSpPr>
        <p:spPr>
          <a:xfrm>
            <a:off x="508000" y="5234940"/>
            <a:ext cx="6624320" cy="1783080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135255DA-90B4-74E1-0D68-084E976FC18B}"/>
              </a:ext>
            </a:extLst>
          </p:cNvPr>
          <p:cNvSpPr/>
          <p:nvPr/>
        </p:nvSpPr>
        <p:spPr>
          <a:xfrm>
            <a:off x="736600" y="53721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97D119E-DF82-D640-4299-A486A8F5D0E4}"/>
              </a:ext>
            </a:extLst>
          </p:cNvPr>
          <p:cNvSpPr/>
          <p:nvPr/>
        </p:nvSpPr>
        <p:spPr>
          <a:xfrm>
            <a:off x="736600" y="53721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D9581A0-EE78-A436-4C5E-5EB8547F1929}"/>
              </a:ext>
            </a:extLst>
          </p:cNvPr>
          <p:cNvSpPr/>
          <p:nvPr/>
        </p:nvSpPr>
        <p:spPr>
          <a:xfrm>
            <a:off x="1129792" y="5353812"/>
            <a:ext cx="570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 정책 강제 (Tag Policy)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B1CB1DE1-634B-518D-43F6-803EB0534B8F}"/>
              </a:ext>
            </a:extLst>
          </p:cNvPr>
          <p:cNvSpPr/>
          <p:nvPr/>
        </p:nvSpPr>
        <p:spPr>
          <a:xfrm>
            <a:off x="1129792" y="5609844"/>
            <a:ext cx="570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IaC 배포 시 필수 태그 미적용 시 배포 차단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42A2791D-800F-D1E6-0D5A-11BAE102CAD9}"/>
              </a:ext>
            </a:extLst>
          </p:cNvPr>
          <p:cNvSpPr/>
          <p:nvPr/>
        </p:nvSpPr>
        <p:spPr>
          <a:xfrm>
            <a:off x="736600" y="588416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DBB577F6-2D94-8DC7-D9D3-D04BFEB18061}"/>
              </a:ext>
            </a:extLst>
          </p:cNvPr>
          <p:cNvSpPr/>
          <p:nvPr/>
        </p:nvSpPr>
        <p:spPr>
          <a:xfrm>
            <a:off x="736600" y="58841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9D209295-092E-F2D9-C134-09DAF63E4974}"/>
              </a:ext>
            </a:extLst>
          </p:cNvPr>
          <p:cNvSpPr/>
          <p:nvPr/>
        </p:nvSpPr>
        <p:spPr>
          <a:xfrm>
            <a:off x="1129792" y="5865876"/>
            <a:ext cx="570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미태깅 리소스 탐지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60D0532D-4D46-83BC-12B6-F92265EA7A67}"/>
              </a:ext>
            </a:extLst>
          </p:cNvPr>
          <p:cNvSpPr/>
          <p:nvPr/>
        </p:nvSpPr>
        <p:spPr>
          <a:xfrm>
            <a:off x="1129792" y="6121908"/>
            <a:ext cx="570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 스캔으로 미태깅 리소스 리포트 생성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899DC8A2-7E1A-F098-2734-F65FC0EB2916}"/>
              </a:ext>
            </a:extLst>
          </p:cNvPr>
          <p:cNvSpPr/>
          <p:nvPr/>
        </p:nvSpPr>
        <p:spPr>
          <a:xfrm>
            <a:off x="736600" y="639622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87FAF30C-EF14-A5D4-CE7A-421F24C2BD81}"/>
              </a:ext>
            </a:extLst>
          </p:cNvPr>
          <p:cNvSpPr/>
          <p:nvPr/>
        </p:nvSpPr>
        <p:spPr>
          <a:xfrm>
            <a:off x="736600" y="63962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E7C5D0D4-7635-19BC-001F-743AC63DAD86}"/>
              </a:ext>
            </a:extLst>
          </p:cNvPr>
          <p:cNvSpPr/>
          <p:nvPr/>
        </p:nvSpPr>
        <p:spPr>
          <a:xfrm>
            <a:off x="1129792" y="6377940"/>
            <a:ext cx="570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태그 표준화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FF33F2FB-1E49-B2D1-D315-08477F2ABD6D}"/>
              </a:ext>
            </a:extLst>
          </p:cNvPr>
          <p:cNvSpPr/>
          <p:nvPr/>
        </p:nvSpPr>
        <p:spPr>
          <a:xfrm>
            <a:off x="1129792" y="6633972"/>
            <a:ext cx="570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네이밍 컨벤션 문서화 및 자동 검증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1A7CA6E-FA68-330F-56E6-B32CD5A633CE}"/>
              </a:ext>
            </a:extLst>
          </p:cNvPr>
          <p:cNvSpPr/>
          <p:nvPr/>
        </p:nvSpPr>
        <p:spPr>
          <a:xfrm>
            <a:off x="7498080" y="486918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D81E4FA9-2E80-DD16-FB1A-14118334A74F}"/>
              </a:ext>
            </a:extLst>
          </p:cNvPr>
          <p:cNvSpPr/>
          <p:nvPr/>
        </p:nvSpPr>
        <p:spPr>
          <a:xfrm>
            <a:off x="7498080" y="48691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할당 모델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7" name="Table 1">
            <a:extLst>
              <a:ext uri="{FF2B5EF4-FFF2-40B4-BE49-F238E27FC236}">
                <a16:creationId xmlns:a16="http://schemas.microsoft.com/office/drawing/2014/main" id="{9798449C-1EF7-52BB-0CA9-606FBAE9F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608859"/>
              </p:ext>
            </p:extLst>
          </p:nvPr>
        </p:nvGraphicFramePr>
        <p:xfrm>
          <a:off x="7498080" y="5234940"/>
          <a:ext cx="662432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상황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Showback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현황을 보여주기만 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FinOps 초기(Crawl) 단계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Chargeback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비용을 부서 예산에 청구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FinOps 성숙(Walk~Run) 단계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직접 할당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태그 기반 리소스 비용 직접 할당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팀 전용 리소스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공유 비용 분배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공용 리소스 비용을 사용량 비례 배분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 인프라 (K8s 등)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6">
            <a:extLst>
              <a:ext uri="{FF2B5EF4-FFF2-40B4-BE49-F238E27FC236}">
                <a16:creationId xmlns:a16="http://schemas.microsoft.com/office/drawing/2014/main" id="{ED166D6B-E4FE-1DD9-E63B-621283977EB9}"/>
              </a:ext>
            </a:extLst>
          </p:cNvPr>
          <p:cNvSpPr/>
          <p:nvPr/>
        </p:nvSpPr>
        <p:spPr>
          <a:xfrm>
            <a:off x="508000" y="7200900"/>
            <a:ext cx="13614400" cy="411480"/>
          </a:xfrm>
          <a:prstGeom prst="roundRect">
            <a:avLst>
              <a:gd name="adj" fmla="val 17778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08B50FD-B6ED-40D0-40C7-BE5CCD8EBDFF}"/>
              </a:ext>
            </a:extLst>
          </p:cNvPr>
          <p:cNvSpPr/>
          <p:nvPr/>
        </p:nvSpPr>
        <p:spPr>
          <a:xfrm>
            <a:off x="736600" y="7219188"/>
            <a:ext cx="13157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권장 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RI/SP 비용을 서비스별로 정확히 분배하려면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Amortized </a:t>
            </a:r>
            <a:r>
              <a:rPr lang="en-US" sz="1400" b="1" dirty="0" err="1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방식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400" dirty="0" err="1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비용은 일시 지급하고 회계 처리는 분할 처리하는 방식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892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F4AF-FE46-489D-94B8-42429CD39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F882DB30-881D-9F12-6469-84947B70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별첨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Amortized(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상환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B668029-E438-6FCC-5606-36BAABBE5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9</a:t>
            </a:fld>
            <a:endParaRPr kumimoji="1" lang="ko-Kore-KR" altLang="en-US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36312523-3272-BFD9-0F45-54AE3137222A}"/>
              </a:ext>
            </a:extLst>
          </p:cNvPr>
          <p:cNvSpPr/>
          <p:nvPr/>
        </p:nvSpPr>
        <p:spPr>
          <a:xfrm>
            <a:off x="570230" y="1120140"/>
            <a:ext cx="136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선불 비용을 사용 기간에 걸쳐 균등 배분하여 공정한 비용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할당</a:t>
            </a: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실현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5F6B2FF-4E80-49F1-3C2B-B373D031674C}"/>
              </a:ext>
            </a:extLst>
          </p:cNvPr>
          <p:cNvSpPr/>
          <p:nvPr/>
        </p:nvSpPr>
        <p:spPr>
          <a:xfrm>
            <a:off x="570230" y="1485900"/>
            <a:ext cx="13614400" cy="475488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428D13C-913D-20FB-4D14-531C30507ED3}"/>
              </a:ext>
            </a:extLst>
          </p:cNvPr>
          <p:cNvSpPr/>
          <p:nvPr/>
        </p:nvSpPr>
        <p:spPr>
          <a:xfrm>
            <a:off x="798830" y="1504188"/>
            <a:ext cx="131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쉬운 비유 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1년 치 헬스장 회원권 120만 원을 결제 → 결제 달에 120만 원이 아니라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매달 10만 원씩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쓴 것으로 장부에 기록하는 방식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4CEB621-352F-5348-E64B-55BD4506B4EA}"/>
              </a:ext>
            </a:extLst>
          </p:cNvPr>
          <p:cNvSpPr/>
          <p:nvPr/>
        </p:nvSpPr>
        <p:spPr>
          <a:xfrm>
            <a:off x="570230" y="2098548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D0FA76B3-8994-20D8-CC57-1D88CD89F793}"/>
              </a:ext>
            </a:extLst>
          </p:cNvPr>
          <p:cNvSpPr/>
          <p:nvPr/>
        </p:nvSpPr>
        <p:spPr>
          <a:xfrm>
            <a:off x="570230" y="20985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예시: $1,200 RI 선결제 시 월별 비용 비교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3C1B5BDD-A53D-C714-80F3-A36FD9D53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291315"/>
              </p:ext>
            </p:extLst>
          </p:nvPr>
        </p:nvGraphicFramePr>
        <p:xfrm>
          <a:off x="570230" y="2446020"/>
          <a:ext cx="13614400" cy="10972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3~11월 (각)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합계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Cash (현금주의)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$1,200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$1,200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Amortized (발생주의)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$1,200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8">
            <a:extLst>
              <a:ext uri="{FF2B5EF4-FFF2-40B4-BE49-F238E27FC236}">
                <a16:creationId xmlns:a16="http://schemas.microsoft.com/office/drawing/2014/main" id="{B2BE143C-E2D4-4008-0CE3-364BFF19087B}"/>
              </a:ext>
            </a:extLst>
          </p:cNvPr>
          <p:cNvSpPr/>
          <p:nvPr/>
        </p:nvSpPr>
        <p:spPr>
          <a:xfrm>
            <a:off x="570230" y="377190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E231E80-182F-106C-6541-49D7F6BE2E84}"/>
              </a:ext>
            </a:extLst>
          </p:cNvPr>
          <p:cNvSpPr/>
          <p:nvPr/>
        </p:nvSpPr>
        <p:spPr>
          <a:xfrm>
            <a:off x="570230" y="37719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왜 Amortized 방식이 필요한가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0DAEED0-E29C-826E-27DF-1620BDE3428F}"/>
              </a:ext>
            </a:extLst>
          </p:cNvPr>
          <p:cNvSpPr/>
          <p:nvPr/>
        </p:nvSpPr>
        <p:spPr>
          <a:xfrm>
            <a:off x="570230" y="4155948"/>
            <a:ext cx="660146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5E3E4B3-F55F-84F4-4740-C844280D63B8}"/>
              </a:ext>
            </a:extLst>
          </p:cNvPr>
          <p:cNvSpPr/>
          <p:nvPr/>
        </p:nvSpPr>
        <p:spPr>
          <a:xfrm>
            <a:off x="570230" y="4155948"/>
            <a:ext cx="73152" cy="10972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AE0F380-E18C-EE98-7DB4-F03FD2979E2A}"/>
              </a:ext>
            </a:extLst>
          </p:cNvPr>
          <p:cNvSpPr/>
          <p:nvPr/>
        </p:nvSpPr>
        <p:spPr>
          <a:xfrm>
            <a:off x="798830" y="4265676"/>
            <a:ext cx="2194560" cy="237744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876347-4F67-4C71-8A5C-BC005A158DBB}"/>
              </a:ext>
            </a:extLst>
          </p:cNvPr>
          <p:cNvSpPr/>
          <p:nvPr/>
        </p:nvSpPr>
        <p:spPr>
          <a:xfrm>
            <a:off x="798830" y="42656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지출 (Actual Cost)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BAA0BDA-F565-FA72-7160-AC7B0ED3E606}"/>
              </a:ext>
            </a:extLst>
          </p:cNvPr>
          <p:cNvSpPr/>
          <p:nvPr/>
        </p:nvSpPr>
        <p:spPr>
          <a:xfrm>
            <a:off x="798830" y="4576572"/>
            <a:ext cx="6144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결제 당월에 수백~수천만 원이 한꺼번에 지출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나머지 달은 지출이 0원처럼 보임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비용 추이 분석이 왜곡됨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B4B26CC-8929-5265-EA0C-2A1202D3499E}"/>
              </a:ext>
            </a:extLst>
          </p:cNvPr>
          <p:cNvSpPr/>
          <p:nvPr/>
        </p:nvSpPr>
        <p:spPr>
          <a:xfrm>
            <a:off x="570230" y="5390388"/>
            <a:ext cx="660146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710294D-E82A-B2A8-2884-2BC8FFF52897}"/>
              </a:ext>
            </a:extLst>
          </p:cNvPr>
          <p:cNvSpPr/>
          <p:nvPr/>
        </p:nvSpPr>
        <p:spPr>
          <a:xfrm>
            <a:off x="570230" y="5390388"/>
            <a:ext cx="73152" cy="109728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D05FECB-2426-4E19-F909-878F07EE8309}"/>
              </a:ext>
            </a:extLst>
          </p:cNvPr>
          <p:cNvSpPr/>
          <p:nvPr/>
        </p:nvSpPr>
        <p:spPr>
          <a:xfrm>
            <a:off x="798830" y="5500116"/>
            <a:ext cx="2194560" cy="237744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5ECB8EB-E987-50D6-42E8-AD46058B5228}"/>
              </a:ext>
            </a:extLst>
          </p:cNvPr>
          <p:cNvSpPr/>
          <p:nvPr/>
        </p:nvSpPr>
        <p:spPr>
          <a:xfrm>
            <a:off x="798830" y="55001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Amortized (발생주의)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D5E1744-B46E-2B12-2BAB-0870C95FD8D9}"/>
              </a:ext>
            </a:extLst>
          </p:cNvPr>
          <p:cNvSpPr/>
          <p:nvPr/>
        </p:nvSpPr>
        <p:spPr>
          <a:xfrm>
            <a:off x="798830" y="5811012"/>
            <a:ext cx="6144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선결제 금액을 계약 기간(1~3년)에 균등 분배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혜택을 받은 서비스/부서에 정확히 할당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월별 비용 추이가 안정적이고 예측 가능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76F7C56-1B97-D81F-B8E9-098EB93CCE46}"/>
              </a:ext>
            </a:extLst>
          </p:cNvPr>
          <p:cNvSpPr/>
          <p:nvPr/>
        </p:nvSpPr>
        <p:spPr>
          <a:xfrm>
            <a:off x="7583170" y="3771900"/>
            <a:ext cx="347472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8D1DA8D-6F4A-0B29-2EB6-494F3872693E}"/>
              </a:ext>
            </a:extLst>
          </p:cNvPr>
          <p:cNvSpPr/>
          <p:nvPr/>
        </p:nvSpPr>
        <p:spPr>
          <a:xfrm>
            <a:off x="7583170" y="37719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서비스별 분배 시 왜 중요한가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68E3D51-2583-6C2D-7050-0E6E79B293FC}"/>
              </a:ext>
            </a:extLst>
          </p:cNvPr>
          <p:cNvSpPr/>
          <p:nvPr/>
        </p:nvSpPr>
        <p:spPr>
          <a:xfrm>
            <a:off x="7583170" y="4155948"/>
            <a:ext cx="66014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201AE0C-58C3-3FAA-F018-8E5167DC3211}"/>
              </a:ext>
            </a:extLst>
          </p:cNvPr>
          <p:cNvSpPr/>
          <p:nvPr/>
        </p:nvSpPr>
        <p:spPr>
          <a:xfrm>
            <a:off x="7583170" y="4155948"/>
            <a:ext cx="73152" cy="804672"/>
          </a:xfrm>
          <a:prstGeom prst="rect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5E261B0-D11F-BFC6-0E3C-8308AA2E824E}"/>
              </a:ext>
            </a:extLst>
          </p:cNvPr>
          <p:cNvSpPr/>
          <p:nvPr/>
        </p:nvSpPr>
        <p:spPr>
          <a:xfrm>
            <a:off x="7811770" y="4265676"/>
            <a:ext cx="274320" cy="274320"/>
          </a:xfrm>
          <a:prstGeom prst="ellipse">
            <a:avLst/>
          </a:prstGeom>
          <a:solidFill>
            <a:srgbClr val="ED7D3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0EA7B69-0267-3D8A-15C7-99E96827E400}"/>
              </a:ext>
            </a:extLst>
          </p:cNvPr>
          <p:cNvSpPr/>
          <p:nvPr/>
        </p:nvSpPr>
        <p:spPr>
          <a:xfrm>
            <a:off x="7811770" y="42656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C406B08-62CB-D1B4-F092-B927EFE6CBFC}"/>
              </a:ext>
            </a:extLst>
          </p:cNvPr>
          <p:cNvSpPr/>
          <p:nvPr/>
        </p:nvSpPr>
        <p:spPr>
          <a:xfrm>
            <a:off x="8204962" y="4229100"/>
            <a:ext cx="5687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착시 현상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832E45E-82E6-355F-C568-931201734B6E}"/>
              </a:ext>
            </a:extLst>
          </p:cNvPr>
          <p:cNvSpPr/>
          <p:nvPr/>
        </p:nvSpPr>
        <p:spPr>
          <a:xfrm>
            <a:off x="8204962" y="4539996"/>
            <a:ext cx="5687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 구매 달은 비용 폭증, 다른 달은 너무 저렴해 보여 정확한 수익성 분석 불가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A200F0C-21F8-BDA6-25DA-0FA32018B424}"/>
              </a:ext>
            </a:extLst>
          </p:cNvPr>
          <p:cNvSpPr/>
          <p:nvPr/>
        </p:nvSpPr>
        <p:spPr>
          <a:xfrm>
            <a:off x="7583170" y="5097780"/>
            <a:ext cx="66014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BF6EB0E-7DB6-08E7-F3A4-D590BF440C46}"/>
              </a:ext>
            </a:extLst>
          </p:cNvPr>
          <p:cNvSpPr/>
          <p:nvPr/>
        </p:nvSpPr>
        <p:spPr>
          <a:xfrm>
            <a:off x="7583170" y="5097780"/>
            <a:ext cx="73152" cy="8046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A279E7B-E68D-5B18-AFF0-813935E214F7}"/>
              </a:ext>
            </a:extLst>
          </p:cNvPr>
          <p:cNvSpPr/>
          <p:nvPr/>
        </p:nvSpPr>
        <p:spPr>
          <a:xfrm>
            <a:off x="7811770" y="52075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399D221-0969-3FF5-6AF0-EAAA3DF843EB}"/>
              </a:ext>
            </a:extLst>
          </p:cNvPr>
          <p:cNvSpPr/>
          <p:nvPr/>
        </p:nvSpPr>
        <p:spPr>
          <a:xfrm>
            <a:off x="7811770" y="52075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22973BD-7613-1D2D-68B0-702E3835139E}"/>
              </a:ext>
            </a:extLst>
          </p:cNvPr>
          <p:cNvSpPr/>
          <p:nvPr/>
        </p:nvSpPr>
        <p:spPr>
          <a:xfrm>
            <a:off x="8204962" y="5170932"/>
            <a:ext cx="56870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형평성 문제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33CF744-6608-70D7-5F5C-1B31D358AFBB}"/>
              </a:ext>
            </a:extLst>
          </p:cNvPr>
          <p:cNvSpPr/>
          <p:nvPr/>
        </p:nvSpPr>
        <p:spPr>
          <a:xfrm>
            <a:off x="8204962" y="5481828"/>
            <a:ext cx="56870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할인 혜택을 받은 팀은 비용 $0, RI 구매 팀만 비용 전액 부담 → 불공정 배분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4F687DD-53AB-8D24-FC69-38754BA60E43}"/>
              </a:ext>
            </a:extLst>
          </p:cNvPr>
          <p:cNvSpPr/>
          <p:nvPr/>
        </p:nvSpPr>
        <p:spPr>
          <a:xfrm>
            <a:off x="570230" y="6670548"/>
            <a:ext cx="13614400" cy="502920"/>
          </a:xfrm>
          <a:prstGeom prst="roundRect">
            <a:avLst>
              <a:gd name="adj" fmla="val 14545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986BCE6-C405-8E81-E93A-95D72D012388}"/>
              </a:ext>
            </a:extLst>
          </p:cNvPr>
          <p:cNvSpPr/>
          <p:nvPr/>
        </p:nvSpPr>
        <p:spPr>
          <a:xfrm>
            <a:off x="798830" y="6688836"/>
            <a:ext cx="131572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✅ 결론  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Amortized 방식으로 각 서비스/부서가 실제 소비한 자원의 가치 기준으로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공정한 Chargeback</a:t>
            </a:r>
            <a:r>
              <a:rPr 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실현하고 </a:t>
            </a:r>
            <a:r>
              <a:rPr lang="en-US" sz="14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 가치를 정확히 측정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9418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18A0-9A49-DABB-F782-B76ABD34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F0216BBC-C26F-EC08-94DB-01C65D52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r>
              <a:rPr lang="ko-KR" altLang="en-US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(Optimize)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미사용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리소스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및 Right-sizing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9CB3585-B2E1-AEFF-AE7F-33790E3B1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10</a:t>
            </a:fld>
            <a:endParaRPr kumimoji="1" lang="ko-Kore-KR" altLang="en-US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3156D07C-ED6E-CA5D-61B8-FA726C18858A}"/>
              </a:ext>
            </a:extLst>
          </p:cNvPr>
          <p:cNvSpPr/>
          <p:nvPr/>
        </p:nvSpPr>
        <p:spPr>
          <a:xfrm>
            <a:off x="508000" y="1015911"/>
            <a:ext cx="136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유휴 리소스 제거와 과잉 사용 리소스의 적정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사양</a:t>
            </a: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조정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4D96B52-9A4B-9D12-7D42-BFEB02AA16BC}"/>
              </a:ext>
            </a:extLst>
          </p:cNvPr>
          <p:cNvSpPr/>
          <p:nvPr/>
        </p:nvSpPr>
        <p:spPr>
          <a:xfrm>
            <a:off x="508000" y="1381671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64A6E8A-B6EB-3CA6-D75B-9BFEB433270E}"/>
              </a:ext>
            </a:extLst>
          </p:cNvPr>
          <p:cNvSpPr/>
          <p:nvPr/>
        </p:nvSpPr>
        <p:spPr>
          <a:xfrm>
            <a:off x="508000" y="1381671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미사용 리소스 제거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56E991F-3EDF-58F6-BCA4-44690EF04150}"/>
              </a:ext>
            </a:extLst>
          </p:cNvPr>
          <p:cNvSpPr/>
          <p:nvPr/>
        </p:nvSpPr>
        <p:spPr>
          <a:xfrm>
            <a:off x="2702560" y="1381671"/>
            <a:ext cx="1141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최적화의 첫걸음은 </a:t>
            </a: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사용하지 않는 리소스를 찾아 제거</a:t>
            </a: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하는 것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413A891E-179E-1260-D6AB-268A7A304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14768"/>
              </p:ext>
            </p:extLst>
          </p:nvPr>
        </p:nvGraphicFramePr>
        <p:xfrm>
          <a:off x="508000" y="1747431"/>
          <a:ext cx="1361440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유휴 리소스 유형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발생 원인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탐지 방법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미연결 EBS 볼륨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인스턴스 삭제 후 볼륨 미정리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Available 상태 볼륨 스캔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미사용 Elastic IP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인스턴스 해제 후 IP 미반납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미연결 EIP 리포트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유휴 인스턴스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후 미종료, 개발 환경 방치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CPU 사용률 1% 미만 2주 지속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미사용 스냅샷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오래된 백업 스냅샷 누적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생성일 기준 90일 초과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방치된 로드밸런서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타겟 그룹 비어있는 ALB/NLB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타겟 0개 LB 스캔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8">
            <a:extLst>
              <a:ext uri="{FF2B5EF4-FFF2-40B4-BE49-F238E27FC236}">
                <a16:creationId xmlns:a16="http://schemas.microsoft.com/office/drawing/2014/main" id="{0F8FE842-BED6-D6BE-8B97-7126C58A365A}"/>
              </a:ext>
            </a:extLst>
          </p:cNvPr>
          <p:cNvSpPr/>
          <p:nvPr/>
        </p:nvSpPr>
        <p:spPr>
          <a:xfrm>
            <a:off x="508000" y="3503079"/>
            <a:ext cx="13614400" cy="320040"/>
          </a:xfrm>
          <a:prstGeom prst="roundRect">
            <a:avLst>
              <a:gd name="adj" fmla="val 17143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519E639-8146-C904-4474-A510A967D65F}"/>
              </a:ext>
            </a:extLst>
          </p:cNvPr>
          <p:cNvSpPr/>
          <p:nvPr/>
        </p:nvSpPr>
        <p:spPr>
          <a:xfrm>
            <a:off x="690880" y="3503079"/>
            <a:ext cx="132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자동화 권장  </a:t>
            </a: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Lambda/스크립트로 주기적 스캔 → 알림 → 확인 후 삭제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B94C67C-3680-2EAD-F342-CA4007B2A0D8}"/>
              </a:ext>
            </a:extLst>
          </p:cNvPr>
          <p:cNvSpPr/>
          <p:nvPr/>
        </p:nvSpPr>
        <p:spPr>
          <a:xfrm>
            <a:off x="508000" y="4005999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C21A365-7964-EFBC-1366-00F7943823DF}"/>
              </a:ext>
            </a:extLst>
          </p:cNvPr>
          <p:cNvSpPr/>
          <p:nvPr/>
        </p:nvSpPr>
        <p:spPr>
          <a:xfrm>
            <a:off x="508000" y="4005999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Right-sizing 실행 절차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1AA0F0A-6BE3-1BBD-532C-A4C6ABEFF761}"/>
              </a:ext>
            </a:extLst>
          </p:cNvPr>
          <p:cNvSpPr/>
          <p:nvPr/>
        </p:nvSpPr>
        <p:spPr>
          <a:xfrm>
            <a:off x="508000" y="4371759"/>
            <a:ext cx="66014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49E4EC9-E08B-4D14-87FA-C716C4F49CDA}"/>
              </a:ext>
            </a:extLst>
          </p:cNvPr>
          <p:cNvSpPr/>
          <p:nvPr/>
        </p:nvSpPr>
        <p:spPr>
          <a:xfrm>
            <a:off x="782320" y="4554639"/>
            <a:ext cx="605282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A6E87F6-E09A-CC97-53CE-3F30252FB7D5}"/>
              </a:ext>
            </a:extLst>
          </p:cNvPr>
          <p:cNvSpPr/>
          <p:nvPr/>
        </p:nvSpPr>
        <p:spPr>
          <a:xfrm>
            <a:off x="965200" y="4554639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수집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7CD32B2-B84C-5A39-FEBC-25B4A5A871C1}"/>
              </a:ext>
            </a:extLst>
          </p:cNvPr>
          <p:cNvSpPr/>
          <p:nvPr/>
        </p:nvSpPr>
        <p:spPr>
          <a:xfrm>
            <a:off x="3068320" y="4554639"/>
            <a:ext cx="3766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2주~1개월간 리소스 사용률 데이터 수집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3A2F8D-41F8-E8A0-472D-AE2C125860D3}"/>
              </a:ext>
            </a:extLst>
          </p:cNvPr>
          <p:cNvSpPr/>
          <p:nvPr/>
        </p:nvSpPr>
        <p:spPr>
          <a:xfrm>
            <a:off x="782320" y="4920399"/>
            <a:ext cx="6052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FA32C15-C951-A3C4-A952-C9C2F5AB892E}"/>
              </a:ext>
            </a:extLst>
          </p:cNvPr>
          <p:cNvSpPr/>
          <p:nvPr/>
        </p:nvSpPr>
        <p:spPr>
          <a:xfrm>
            <a:off x="782320" y="5158143"/>
            <a:ext cx="6052820" cy="347472"/>
          </a:xfrm>
          <a:prstGeom prst="roundRect">
            <a:avLst>
              <a:gd name="adj" fmla="val 15789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FF08B46-2331-121E-C760-6E031C8D014C}"/>
              </a:ext>
            </a:extLst>
          </p:cNvPr>
          <p:cNvSpPr/>
          <p:nvPr/>
        </p:nvSpPr>
        <p:spPr>
          <a:xfrm>
            <a:off x="965200" y="5158143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탐색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7DCB102-04E5-F5C7-3320-2809917BE6D7}"/>
              </a:ext>
            </a:extLst>
          </p:cNvPr>
          <p:cNvSpPr/>
          <p:nvPr/>
        </p:nvSpPr>
        <p:spPr>
          <a:xfrm>
            <a:off x="3068320" y="5158143"/>
            <a:ext cx="3766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피크 타임 포함 사용 패턴 분석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E4ED23-6426-4F0C-8A89-596C4EA89D1E}"/>
              </a:ext>
            </a:extLst>
          </p:cNvPr>
          <p:cNvSpPr/>
          <p:nvPr/>
        </p:nvSpPr>
        <p:spPr>
          <a:xfrm>
            <a:off x="782320" y="5523903"/>
            <a:ext cx="6052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0B21A8-1AF1-F6C7-20DB-EC0A3E9C150F}"/>
              </a:ext>
            </a:extLst>
          </p:cNvPr>
          <p:cNvSpPr/>
          <p:nvPr/>
        </p:nvSpPr>
        <p:spPr>
          <a:xfrm>
            <a:off x="782320" y="5761647"/>
            <a:ext cx="605282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2518EE4-6677-BED5-9202-47C0EC854B6D}"/>
              </a:ext>
            </a:extLst>
          </p:cNvPr>
          <p:cNvSpPr/>
          <p:nvPr/>
        </p:nvSpPr>
        <p:spPr>
          <a:xfrm>
            <a:off x="965200" y="5761647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</a:t>
            </a:r>
            <a:r>
              <a:rPr lang="en-US" sz="1500" b="1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권고</a:t>
            </a: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승인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F162B04-1094-D35D-1D23-9D47B68D375E}"/>
              </a:ext>
            </a:extLst>
          </p:cNvPr>
          <p:cNvSpPr/>
          <p:nvPr/>
        </p:nvSpPr>
        <p:spPr>
          <a:xfrm>
            <a:off x="3068320" y="5761647"/>
            <a:ext cx="3766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적정 인스턴스 타입 3가지 </a:t>
            </a:r>
            <a:r>
              <a:rPr lang="en-US" sz="1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대안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제시</a:t>
            </a: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승인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942822-9A9B-CB19-6C18-99C3B9692873}"/>
              </a:ext>
            </a:extLst>
          </p:cNvPr>
          <p:cNvSpPr/>
          <p:nvPr/>
        </p:nvSpPr>
        <p:spPr>
          <a:xfrm>
            <a:off x="782320" y="6127407"/>
            <a:ext cx="6052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8D26911-D9F3-B497-20E3-390DC44B0667}"/>
              </a:ext>
            </a:extLst>
          </p:cNvPr>
          <p:cNvSpPr/>
          <p:nvPr/>
        </p:nvSpPr>
        <p:spPr>
          <a:xfrm>
            <a:off x="782320" y="6365151"/>
            <a:ext cx="605282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705EB72-40F1-6EA1-2618-06DFA751DB15}"/>
              </a:ext>
            </a:extLst>
          </p:cNvPr>
          <p:cNvSpPr/>
          <p:nvPr/>
        </p:nvSpPr>
        <p:spPr>
          <a:xfrm>
            <a:off x="965200" y="6365151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적용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104760B-83BC-308E-ED39-9143678B3FF0}"/>
              </a:ext>
            </a:extLst>
          </p:cNvPr>
          <p:cNvSpPr/>
          <p:nvPr/>
        </p:nvSpPr>
        <p:spPr>
          <a:xfrm>
            <a:off x="3068320" y="6365151"/>
            <a:ext cx="3766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비운영 환경부터 순차 적용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C8B1C76-3490-1522-673C-5CE80E0B64D1}"/>
              </a:ext>
            </a:extLst>
          </p:cNvPr>
          <p:cNvSpPr/>
          <p:nvPr/>
        </p:nvSpPr>
        <p:spPr>
          <a:xfrm>
            <a:off x="782320" y="6730911"/>
            <a:ext cx="60528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▼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D184106-10BD-06D2-DF59-03DBA4BFA68C}"/>
              </a:ext>
            </a:extLst>
          </p:cNvPr>
          <p:cNvSpPr/>
          <p:nvPr/>
        </p:nvSpPr>
        <p:spPr>
          <a:xfrm>
            <a:off x="782320" y="6968655"/>
            <a:ext cx="605282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3949C92-6A5B-3E27-E8E6-F9567F75384A}"/>
              </a:ext>
            </a:extLst>
          </p:cNvPr>
          <p:cNvSpPr/>
          <p:nvPr/>
        </p:nvSpPr>
        <p:spPr>
          <a:xfrm>
            <a:off x="965200" y="6968655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검증</a:t>
            </a:r>
            <a:endParaRPr lang="en-US" sz="1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DDA67BA-29E2-3A54-1376-AAAA8F65E91F}"/>
              </a:ext>
            </a:extLst>
          </p:cNvPr>
          <p:cNvSpPr/>
          <p:nvPr/>
        </p:nvSpPr>
        <p:spPr>
          <a:xfrm>
            <a:off x="3068320" y="6968655"/>
            <a:ext cx="37668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성능 SLA 충족 여부 확인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FDD0009-483A-0692-644D-B7299B765ED2}"/>
              </a:ext>
            </a:extLst>
          </p:cNvPr>
          <p:cNvSpPr/>
          <p:nvPr/>
        </p:nvSpPr>
        <p:spPr>
          <a:xfrm>
            <a:off x="7520940" y="4005999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673F72A-ED54-348E-2670-0B80BC214E62}"/>
              </a:ext>
            </a:extLst>
          </p:cNvPr>
          <p:cNvSpPr/>
          <p:nvPr/>
        </p:nvSpPr>
        <p:spPr>
          <a:xfrm>
            <a:off x="7520940" y="400599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Right-sizing이란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F759BCB-6B71-2D2F-FC3D-36EB15F2E2BF}"/>
              </a:ext>
            </a:extLst>
          </p:cNvPr>
          <p:cNvSpPr/>
          <p:nvPr/>
        </p:nvSpPr>
        <p:spPr>
          <a:xfrm>
            <a:off x="7520940" y="4371759"/>
            <a:ext cx="6601460" cy="438912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556AAF3-B681-9C9B-E16D-BBCD4B6E2E18}"/>
              </a:ext>
            </a:extLst>
          </p:cNvPr>
          <p:cNvSpPr/>
          <p:nvPr/>
        </p:nvSpPr>
        <p:spPr>
          <a:xfrm>
            <a:off x="7658100" y="4390047"/>
            <a:ext cx="6327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 워크로드 사용량을 분석하여 </a:t>
            </a: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과잉 프로비저닝된 인스턴스를 적정 사양으로 조정</a:t>
            </a: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하는 비용 최적화 기법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4FC452F-D477-A2AF-AE3E-23398CAF7171}"/>
              </a:ext>
            </a:extLst>
          </p:cNvPr>
          <p:cNvSpPr/>
          <p:nvPr/>
        </p:nvSpPr>
        <p:spPr>
          <a:xfrm>
            <a:off x="7520940" y="4902111"/>
            <a:ext cx="1828800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4A2C1F7-EF7D-1B45-5CA9-4F8829240BD1}"/>
              </a:ext>
            </a:extLst>
          </p:cNvPr>
          <p:cNvSpPr/>
          <p:nvPr/>
        </p:nvSpPr>
        <p:spPr>
          <a:xfrm>
            <a:off x="7520940" y="4902111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판단 기준 지표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40" name="Table 1">
            <a:extLst>
              <a:ext uri="{FF2B5EF4-FFF2-40B4-BE49-F238E27FC236}">
                <a16:creationId xmlns:a16="http://schemas.microsoft.com/office/drawing/2014/main" id="{36C40B5A-7023-63F4-7877-4EA46E195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115847"/>
              </p:ext>
            </p:extLst>
          </p:nvPr>
        </p:nvGraphicFramePr>
        <p:xfrm>
          <a:off x="7520940" y="5222151"/>
          <a:ext cx="6601460" cy="1371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9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다운사이징 권고 기준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모니터링 주기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CPU 사용률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40% 미만 지속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2주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메모리 사용률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평균 60% 미만 지속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2주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네트워크 I/O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인스턴스 대역폭의 20% 미만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디스크 I/O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프로비저닝된 IOPS의 30% 미만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Shape 38">
            <a:extLst>
              <a:ext uri="{FF2B5EF4-FFF2-40B4-BE49-F238E27FC236}">
                <a16:creationId xmlns:a16="http://schemas.microsoft.com/office/drawing/2014/main" id="{BE6B43BC-B389-A71D-E982-5A55256A84E3}"/>
              </a:ext>
            </a:extLst>
          </p:cNvPr>
          <p:cNvSpPr/>
          <p:nvPr/>
        </p:nvSpPr>
        <p:spPr>
          <a:xfrm>
            <a:off x="7520940" y="6703479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02CE68E-3ED2-BB31-6ED5-933A18FB6CD8}"/>
              </a:ext>
            </a:extLst>
          </p:cNvPr>
          <p:cNvSpPr/>
          <p:nvPr/>
        </p:nvSpPr>
        <p:spPr>
          <a:xfrm>
            <a:off x="7520940" y="6703479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⚠ 주의사항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C7042029-BC8B-181D-F989-4E52893C59D2}"/>
              </a:ext>
            </a:extLst>
          </p:cNvPr>
          <p:cNvSpPr/>
          <p:nvPr/>
        </p:nvSpPr>
        <p:spPr>
          <a:xfrm>
            <a:off x="7520940" y="7023519"/>
            <a:ext cx="66014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3ECBB088-ED35-1493-D2BB-B39530497F84}"/>
              </a:ext>
            </a:extLst>
          </p:cNvPr>
          <p:cNvSpPr/>
          <p:nvPr/>
        </p:nvSpPr>
        <p:spPr>
          <a:xfrm>
            <a:off x="7658100" y="7096671"/>
            <a:ext cx="6327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피크 타임 고려: </a:t>
            </a: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평균값만 보면 피크 시 성능 저하 위험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00B3AECE-6453-2264-104A-786E74E191FA}"/>
              </a:ext>
            </a:extLst>
          </p:cNvPr>
          <p:cNvSpPr/>
          <p:nvPr/>
        </p:nvSpPr>
        <p:spPr>
          <a:xfrm>
            <a:off x="7658100" y="7352703"/>
            <a:ext cx="6327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성능 SLA 균형: </a:t>
            </a: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절감과 서비스 품질 사이의 트레이드오프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E3980B3F-214C-FF01-6A2E-3A5DBAC99E40}"/>
              </a:ext>
            </a:extLst>
          </p:cNvPr>
          <p:cNvSpPr/>
          <p:nvPr/>
        </p:nvSpPr>
        <p:spPr>
          <a:xfrm>
            <a:off x="7658100" y="7608735"/>
            <a:ext cx="6327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AWS Compute Optimizer: </a:t>
            </a: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CPU·메모리 활용률 분석 후 3가지 대안 인스턴스 자동 제시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513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7BFDC-98E0-4AB5-ACF2-D57B02ED2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6A860A2A-76D9-DBB0-F358-33AFE490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(Optimize)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스케일링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최적화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6E4C315-2DE8-E66C-4977-527FF147D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11</a:t>
            </a:fld>
            <a:endParaRPr kumimoji="1" lang="ko-Kore-KR" alt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0A42221-98C8-9F22-6AEB-FF514CE94C29}"/>
              </a:ext>
            </a:extLst>
          </p:cNvPr>
          <p:cNvSpPr/>
          <p:nvPr/>
        </p:nvSpPr>
        <p:spPr>
          <a:xfrm>
            <a:off x="508000" y="1132616"/>
            <a:ext cx="136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HPA/VPA/노드의 오토 스케일링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정책</a:t>
            </a: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튜닝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Image 0" descr="/sessions/cool-zen-pascal/mnt/courseware/output/images/scaling_cost_impact.png">
            <a:extLst>
              <a:ext uri="{FF2B5EF4-FFF2-40B4-BE49-F238E27FC236}">
                <a16:creationId xmlns:a16="http://schemas.microsoft.com/office/drawing/2014/main" id="{3D436FB0-5C2A-7236-0D45-D93B441AC2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000" y="1498376"/>
            <a:ext cx="6601460" cy="3063240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DEED012-74BE-074A-9716-D3716F7B1069}"/>
              </a:ext>
            </a:extLst>
          </p:cNvPr>
          <p:cNvSpPr/>
          <p:nvPr/>
        </p:nvSpPr>
        <p:spPr>
          <a:xfrm>
            <a:off x="508000" y="4726208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563C991-F87C-6C2E-0CDB-1776D305C6FF}"/>
              </a:ext>
            </a:extLst>
          </p:cNvPr>
          <p:cNvSpPr/>
          <p:nvPr/>
        </p:nvSpPr>
        <p:spPr>
          <a:xfrm>
            <a:off x="508000" y="47262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VPA (Vertical Pod Autoscaler) 비용 관점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466335A9-8EF3-2FD6-B0C2-159E1E66265C}"/>
              </a:ext>
            </a:extLst>
          </p:cNvPr>
          <p:cNvGrpSpPr/>
          <p:nvPr/>
        </p:nvGrpSpPr>
        <p:grpSpPr>
          <a:xfrm>
            <a:off x="508000" y="5037103"/>
            <a:ext cx="6601460" cy="1082249"/>
            <a:chOff x="508000" y="5037104"/>
            <a:chExt cx="6601460" cy="841248"/>
          </a:xfrm>
        </p:grpSpPr>
        <p:sp>
          <p:nvSpPr>
            <p:cNvPr id="7" name="Shape 7">
              <a:extLst>
                <a:ext uri="{FF2B5EF4-FFF2-40B4-BE49-F238E27FC236}">
                  <a16:creationId xmlns:a16="http://schemas.microsoft.com/office/drawing/2014/main" id="{0DC1E213-648B-A70D-FE64-6C8E1A61515C}"/>
                </a:ext>
              </a:extLst>
            </p:cNvPr>
            <p:cNvSpPr/>
            <p:nvPr/>
          </p:nvSpPr>
          <p:spPr>
            <a:xfrm>
              <a:off x="508000" y="5037104"/>
              <a:ext cx="6601460" cy="841248"/>
            </a:xfrm>
            <a:prstGeom prst="rect">
              <a:avLst/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Text 8">
              <a:extLst>
                <a:ext uri="{FF2B5EF4-FFF2-40B4-BE49-F238E27FC236}">
                  <a16:creationId xmlns:a16="http://schemas.microsoft.com/office/drawing/2014/main" id="{807D7629-5327-43C5-A2E0-096ECBF82386}"/>
                </a:ext>
              </a:extLst>
            </p:cNvPr>
            <p:cNvSpPr/>
            <p:nvPr/>
          </p:nvSpPr>
          <p:spPr>
            <a:xfrm>
              <a:off x="645160" y="5091968"/>
              <a:ext cx="632714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Request/Limit 자동 조정으로 Right-sizing 자동화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Over-provisioning 방지 — 리소스 낭비 제거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en-US" sz="1200" b="1" dirty="0">
                  <a:solidFill>
                    <a:srgbClr val="DC26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주의: </a:t>
              </a: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VPA+HPA 동시 사용 시 HPA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는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CPU 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사용량 기준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VPA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는 메모리 사용량 기준</a:t>
              </a: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1200" dirty="0" err="1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권장</a:t>
              </a:r>
              <a:b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CPU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 기준 시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VPA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CPU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증가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CPU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사용량 감소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HPA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Pod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를 줄임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Flapping 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현상 발생</a:t>
              </a:r>
              <a:r>
                <a:rPr lang="en-US" altLang="ko-KR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</a:t>
              </a:r>
              <a:b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9" name="Shape 9">
            <a:extLst>
              <a:ext uri="{FF2B5EF4-FFF2-40B4-BE49-F238E27FC236}">
                <a16:creationId xmlns:a16="http://schemas.microsoft.com/office/drawing/2014/main" id="{1C7F506D-E0EB-6AFA-29D2-20F16458C18F}"/>
              </a:ext>
            </a:extLst>
          </p:cNvPr>
          <p:cNvSpPr/>
          <p:nvPr/>
        </p:nvSpPr>
        <p:spPr>
          <a:xfrm>
            <a:off x="508000" y="6229081"/>
            <a:ext cx="3474720" cy="256032"/>
          </a:xfrm>
          <a:prstGeom prst="roundRect">
            <a:avLst>
              <a:gd name="adj" fmla="val 17857"/>
            </a:avLst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009FF39E-D11F-97FA-B6F1-0A6E890A4406}"/>
              </a:ext>
            </a:extLst>
          </p:cNvPr>
          <p:cNvSpPr/>
          <p:nvPr/>
        </p:nvSpPr>
        <p:spPr>
          <a:xfrm>
            <a:off x="508000" y="6229081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Cluster Autoscaler / Karpenter 연계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12EC74C-00E3-84AA-53AA-180311361D43}"/>
              </a:ext>
            </a:extLst>
          </p:cNvPr>
          <p:cNvSpPr/>
          <p:nvPr/>
        </p:nvSpPr>
        <p:spPr>
          <a:xfrm>
            <a:off x="508000" y="6539977"/>
            <a:ext cx="6601460" cy="841248"/>
          </a:xfrm>
          <a:prstGeom prst="rect">
            <a:avLst/>
          </a:prstGeom>
          <a:solidFill>
            <a:srgbClr val="F5F5F7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B7C832D-ED1F-B1A7-759F-9BE6E0FA71EC}"/>
              </a:ext>
            </a:extLst>
          </p:cNvPr>
          <p:cNvSpPr/>
          <p:nvPr/>
        </p:nvSpPr>
        <p:spPr>
          <a:xfrm>
            <a:off x="645160" y="6594841"/>
            <a:ext cx="6327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노드 수준 스케일링이 전체 비용에 직접 영향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en-US" sz="12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빈 패킹(Bin Packing)</a:t>
            </a: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Pod를 최소 노드에 밀집 배치, 유휴 노드 제거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Karpenter: 워크로드 맞춤 최적 인스턴스 타입 자동 선택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C506285B-D8B0-AB3D-6936-0F6FD26535BC}"/>
              </a:ext>
            </a:extLst>
          </p:cNvPr>
          <p:cNvSpPr/>
          <p:nvPr/>
        </p:nvSpPr>
        <p:spPr>
          <a:xfrm>
            <a:off x="7520940" y="1498376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6DDFC18-E698-A40A-C59E-8868DE38BC90}"/>
              </a:ext>
            </a:extLst>
          </p:cNvPr>
          <p:cNvSpPr/>
          <p:nvPr/>
        </p:nvSpPr>
        <p:spPr>
          <a:xfrm>
            <a:off x="7520940" y="1498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HPA (Horizontal Pod Autoscaler) 비용 관점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AF2E95CE-D2D5-8D7B-F400-111FBE614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581929"/>
              </p:ext>
            </p:extLst>
          </p:nvPr>
        </p:nvGraphicFramePr>
        <p:xfrm>
          <a:off x="7520940" y="1845847"/>
          <a:ext cx="6601460" cy="255539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10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 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영향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CPU 임계값 (50% vs 70%)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낮을수록 빠른 스케일아웃 → Pod 증가 → 비용 상승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 Pod 수 (minReplicas)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높을수록 유휴 비용 발생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Pod 수 (maxReplicas)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피크 시 비용 상한선 결정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0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스케일 다운 지연 (cooldown)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짧으면 불안정, 길면 불필요 비용 지속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hape 15">
            <a:extLst>
              <a:ext uri="{FF2B5EF4-FFF2-40B4-BE49-F238E27FC236}">
                <a16:creationId xmlns:a16="http://schemas.microsoft.com/office/drawing/2014/main" id="{677D167F-B10A-2BCD-DE9B-367DF1FBCCB3}"/>
              </a:ext>
            </a:extLst>
          </p:cNvPr>
          <p:cNvSpPr/>
          <p:nvPr/>
        </p:nvSpPr>
        <p:spPr>
          <a:xfrm>
            <a:off x="7520940" y="4726208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ED7D3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2F6308D-C00A-66B0-FDD0-3805996A3EFB}"/>
              </a:ext>
            </a:extLst>
          </p:cNvPr>
          <p:cNvSpPr/>
          <p:nvPr/>
        </p:nvSpPr>
        <p:spPr>
          <a:xfrm>
            <a:off x="7520940" y="4726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트레이드오프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9" name="Table 1">
            <a:extLst>
              <a:ext uri="{FF2B5EF4-FFF2-40B4-BE49-F238E27FC236}">
                <a16:creationId xmlns:a16="http://schemas.microsoft.com/office/drawing/2014/main" id="{40CDBFCA-8B58-26C7-B072-D4586671FA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079018"/>
              </p:ext>
            </p:extLst>
          </p:nvPr>
        </p:nvGraphicFramePr>
        <p:xfrm>
          <a:off x="7520940" y="5037104"/>
          <a:ext cx="6601460" cy="1694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5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(과잉)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공격적 (최소)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5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(불필요 노드 유지)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5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 위험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(피크 시 저하)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5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프로덕션 핵심 서비스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개발/테스트 환경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80F04464-4E8F-46BE-9CC1-6A98767665A2}"/>
              </a:ext>
            </a:extLst>
          </p:cNvPr>
          <p:cNvGrpSpPr/>
          <p:nvPr/>
        </p:nvGrpSpPr>
        <p:grpSpPr>
          <a:xfrm>
            <a:off x="7520940" y="6942101"/>
            <a:ext cx="6601460" cy="384048"/>
            <a:chOff x="7520940" y="6637304"/>
            <a:chExt cx="6601460" cy="384048"/>
          </a:xfrm>
        </p:grpSpPr>
        <p:sp>
          <p:nvSpPr>
            <p:cNvPr id="20" name="Shape 17">
              <a:extLst>
                <a:ext uri="{FF2B5EF4-FFF2-40B4-BE49-F238E27FC236}">
                  <a16:creationId xmlns:a16="http://schemas.microsoft.com/office/drawing/2014/main" id="{3B382B4A-FE6D-2175-6903-C2083CCFFB0F}"/>
                </a:ext>
              </a:extLst>
            </p:cNvPr>
            <p:cNvSpPr/>
            <p:nvPr/>
          </p:nvSpPr>
          <p:spPr>
            <a:xfrm>
              <a:off x="7520940" y="6637304"/>
              <a:ext cx="6601460" cy="384048"/>
            </a:xfrm>
            <a:prstGeom prst="roundRect">
              <a:avLst>
                <a:gd name="adj" fmla="val 14286"/>
              </a:avLst>
            </a:prstGeom>
            <a:solidFill>
              <a:srgbClr val="CCFBF1"/>
            </a:solidFill>
            <a:ln/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9A8D51C6-6DCB-F101-7E15-C0E1EDD8988E}"/>
                </a:ext>
              </a:extLst>
            </p:cNvPr>
            <p:cNvSpPr/>
            <p:nvPr/>
          </p:nvSpPr>
          <p:spPr>
            <a:xfrm>
              <a:off x="7658100" y="6637304"/>
              <a:ext cx="63271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💡 Best Practice  </a:t>
              </a: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스케일링 비용 시뮬레이션으로 예상 트래픽 기반 월간 비용을 사전 추정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1430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F2AE9-AD18-215A-7C1B-1B4F3CBB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DD6E40ED-0B7B-4440-9895-8E0E1C693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줄이기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(Optimize)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약정할인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2BC289-FF45-089C-40EB-B6B6080FC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12</a:t>
            </a:fld>
            <a:endParaRPr kumimoji="1" lang="ko-Kore-KR" alt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623C5B70-428E-C978-2164-1CFAACF1D693}"/>
              </a:ext>
            </a:extLst>
          </p:cNvPr>
          <p:cNvSpPr/>
          <p:nvPr/>
        </p:nvSpPr>
        <p:spPr>
          <a:xfrm>
            <a:off x="508000" y="1059556"/>
            <a:ext cx="136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RI/SP/SI 등 워크로드 특성에 맞는 할인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</a:t>
            </a: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2000" b="1" dirty="0" err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</a:t>
            </a:r>
            <a:endParaRPr lang="en-US" sz="2000" b="1" dirty="0">
              <a:solidFill>
                <a:srgbClr val="2C292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1F51F4D-61CD-A269-97A7-38CAC1DAD33F}"/>
              </a:ext>
            </a:extLst>
          </p:cNvPr>
          <p:cNvSpPr/>
          <p:nvPr/>
        </p:nvSpPr>
        <p:spPr>
          <a:xfrm>
            <a:off x="508000" y="1425316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B82883F8-BB1E-24BB-8A50-FEC192996DEF}"/>
              </a:ext>
            </a:extLst>
          </p:cNvPr>
          <p:cNvSpPr/>
          <p:nvPr/>
        </p:nvSpPr>
        <p:spPr>
          <a:xfrm>
            <a:off x="508000" y="14253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약정 할인 비교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C452D2B3-E745-1866-64D0-BA5F4C69A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32408"/>
              </p:ext>
            </p:extLst>
          </p:nvPr>
        </p:nvGraphicFramePr>
        <p:xfrm>
          <a:off x="508000" y="1791076"/>
          <a:ext cx="13614400" cy="197510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29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Reserved Instances (RI)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Savings Plans (SP)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Spot Instances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할인율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2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72%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72%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최대 90%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약정 기간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1년 / 3년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1년 / 3년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 (특정 인스턴스 고정)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 (인스턴스 변경 가능)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매우 높음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중단 위험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 (회수 가능)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 워크로드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24/7 상시 운영 (DB, 기간계)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인스턴스 변경 빈번한 서비스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배치 처리, CI/CD, 데이터 분석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7">
            <a:extLst>
              <a:ext uri="{FF2B5EF4-FFF2-40B4-BE49-F238E27FC236}">
                <a16:creationId xmlns:a16="http://schemas.microsoft.com/office/drawing/2014/main" id="{8D6C27B3-4C72-5298-6665-5A24E690E219}"/>
              </a:ext>
            </a:extLst>
          </p:cNvPr>
          <p:cNvSpPr/>
          <p:nvPr/>
        </p:nvSpPr>
        <p:spPr>
          <a:xfrm>
            <a:off x="508000" y="399478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3779A75-BA85-FB62-3C38-B8EDD2C37F06}"/>
              </a:ext>
            </a:extLst>
          </p:cNvPr>
          <p:cNvSpPr/>
          <p:nvPr/>
        </p:nvSpPr>
        <p:spPr>
          <a:xfrm>
            <a:off x="508000" y="39947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의사결정 매트릭스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9" name="Table 1">
            <a:extLst>
              <a:ext uri="{FF2B5EF4-FFF2-40B4-BE49-F238E27FC236}">
                <a16:creationId xmlns:a16="http://schemas.microsoft.com/office/drawing/2014/main" id="{71F5A1AA-AF6A-9CD5-2605-C415F7B07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401077"/>
              </p:ext>
            </p:extLst>
          </p:nvPr>
        </p:nvGraphicFramePr>
        <p:xfrm>
          <a:off x="508000" y="4360540"/>
          <a:ext cx="6601460" cy="2679190"/>
        </p:xfrm>
        <a:graphic>
          <a:graphicData uri="http://schemas.openxmlformats.org/drawingml/2006/table">
            <a:tbl>
              <a:tblPr/>
              <a:tblGrid>
                <a:gridCol w="429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0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8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워크로드 특성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전략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안정적 + 장기 운영 + 인스턴스 고정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0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안정적 + 장기 운영 + 인스턴스 유동적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D7D3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Savings Plans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중단 허용 + 단기/탄력적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70AD4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Spot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8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불확실 + </a:t>
                      </a:r>
                      <a:r>
                        <a:rPr lang="en-US" sz="1300" dirty="0" err="1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</a:t>
                      </a: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탐색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6B6B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On-Demand</a:t>
                      </a:r>
                      <a:br>
                        <a:rPr lang="en-US" sz="1400" b="1" dirty="0">
                          <a:solidFill>
                            <a:srgbClr val="6B6B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</a:br>
                      <a:r>
                        <a:rPr lang="en-US" sz="1200" b="0" dirty="0">
                          <a:solidFill>
                            <a:srgbClr val="6B6B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rgbClr val="6B6B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약정 없이 필요 시 구매</a:t>
                      </a:r>
                      <a:r>
                        <a:rPr lang="en-US" altLang="ko-KR" sz="1200" b="0" dirty="0">
                          <a:solidFill>
                            <a:srgbClr val="6B6B7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400" b="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5" name="그룹 34">
            <a:extLst>
              <a:ext uri="{FF2B5EF4-FFF2-40B4-BE49-F238E27FC236}">
                <a16:creationId xmlns:a16="http://schemas.microsoft.com/office/drawing/2014/main" id="{81BB2A9A-DA43-9792-3453-FCB848B02FB0}"/>
              </a:ext>
            </a:extLst>
          </p:cNvPr>
          <p:cNvGrpSpPr/>
          <p:nvPr/>
        </p:nvGrpSpPr>
        <p:grpSpPr>
          <a:xfrm>
            <a:off x="508000" y="7246355"/>
            <a:ext cx="6601460" cy="384048"/>
            <a:chOff x="508000" y="6445372"/>
            <a:chExt cx="6601460" cy="384048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15FA788F-FC28-17D8-D553-799841D8A024}"/>
                </a:ext>
              </a:extLst>
            </p:cNvPr>
            <p:cNvSpPr/>
            <p:nvPr/>
          </p:nvSpPr>
          <p:spPr>
            <a:xfrm>
              <a:off x="508000" y="6445372"/>
              <a:ext cx="6601460" cy="384048"/>
            </a:xfrm>
            <a:prstGeom prst="roundRect">
              <a:avLst>
                <a:gd name="adj" fmla="val 14286"/>
              </a:avLst>
            </a:prstGeom>
            <a:solidFill>
              <a:srgbClr val="FEF3C7"/>
            </a:solidFill>
            <a:ln w="12700">
              <a:solidFill>
                <a:srgbClr val="FDE68A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B88BEB1F-2061-2A46-879F-0592680ED49E}"/>
                </a:ext>
              </a:extLst>
            </p:cNvPr>
            <p:cNvSpPr/>
            <p:nvPr/>
          </p:nvSpPr>
          <p:spPr>
            <a:xfrm>
              <a:off x="690880" y="6445372"/>
              <a:ext cx="62357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92400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⚠ 중요  </a:t>
              </a:r>
              <a:r>
                <a:rPr lang="en-US" sz="13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약정 구매 전 최소 </a:t>
              </a:r>
              <a:r>
                <a:rPr lang="en-US" sz="1300" b="1" dirty="0">
                  <a:solidFill>
                    <a:srgbClr val="92400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3~6개월</a:t>
              </a:r>
              <a:r>
                <a:rPr lang="en-US" sz="13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사용 데이터 분석 필수</a:t>
              </a:r>
              <a:endParaRPr lang="en-US" sz="13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3" name="Shape 11">
            <a:extLst>
              <a:ext uri="{FF2B5EF4-FFF2-40B4-BE49-F238E27FC236}">
                <a16:creationId xmlns:a16="http://schemas.microsoft.com/office/drawing/2014/main" id="{7B703C45-6AC6-077B-56AA-EA6917BA01DE}"/>
              </a:ext>
            </a:extLst>
          </p:cNvPr>
          <p:cNvSpPr/>
          <p:nvPr/>
        </p:nvSpPr>
        <p:spPr>
          <a:xfrm>
            <a:off x="7520940" y="3994780"/>
            <a:ext cx="2926080" cy="274320"/>
          </a:xfrm>
          <a:prstGeom prst="roundRect">
            <a:avLst>
              <a:gd name="adj" fmla="val 1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B6077D5-8F37-F692-4045-F378C610211A}"/>
              </a:ext>
            </a:extLst>
          </p:cNvPr>
          <p:cNvSpPr/>
          <p:nvPr/>
        </p:nvSpPr>
        <p:spPr>
          <a:xfrm>
            <a:off x="7520940" y="39947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혼합 전략 (Blended Approach)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3567EBD-BA44-9991-4FEE-37B98E1F38A7}"/>
              </a:ext>
            </a:extLst>
          </p:cNvPr>
          <p:cNvSpPr/>
          <p:nvPr/>
        </p:nvSpPr>
        <p:spPr>
          <a:xfrm>
            <a:off x="7520940" y="4378828"/>
            <a:ext cx="66014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C13ADFB-88DA-AC88-655C-79233E0E0713}"/>
              </a:ext>
            </a:extLst>
          </p:cNvPr>
          <p:cNvSpPr/>
          <p:nvPr/>
        </p:nvSpPr>
        <p:spPr>
          <a:xfrm>
            <a:off x="7520940" y="4378828"/>
            <a:ext cx="73152" cy="77724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027F01F-3F1A-C9D7-8AA4-69566DE068E6}"/>
              </a:ext>
            </a:extLst>
          </p:cNvPr>
          <p:cNvSpPr/>
          <p:nvPr/>
        </p:nvSpPr>
        <p:spPr>
          <a:xfrm>
            <a:off x="7749540" y="4488556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4472C4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0AB32DB-1D7B-20C9-4B93-9F43140115CF}"/>
              </a:ext>
            </a:extLst>
          </p:cNvPr>
          <p:cNvSpPr/>
          <p:nvPr/>
        </p:nvSpPr>
        <p:spPr>
          <a:xfrm>
            <a:off x="7749540" y="44885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베이스라인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C5899D7-E956-9765-7498-4767C597D9F0}"/>
              </a:ext>
            </a:extLst>
          </p:cNvPr>
          <p:cNvSpPr/>
          <p:nvPr/>
        </p:nvSpPr>
        <p:spPr>
          <a:xfrm>
            <a:off x="9304020" y="4451980"/>
            <a:ext cx="4498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RI 또는 Savings Plans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84CADC8-849A-0518-0F07-F5DF357BF211}"/>
              </a:ext>
            </a:extLst>
          </p:cNvPr>
          <p:cNvSpPr/>
          <p:nvPr/>
        </p:nvSpPr>
        <p:spPr>
          <a:xfrm>
            <a:off x="9304020" y="4762876"/>
            <a:ext cx="4498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안정적 기반 확보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3665487-D51E-5F8D-805B-6E15849B5A1E}"/>
              </a:ext>
            </a:extLst>
          </p:cNvPr>
          <p:cNvSpPr/>
          <p:nvPr/>
        </p:nvSpPr>
        <p:spPr>
          <a:xfrm>
            <a:off x="7520940" y="5320660"/>
            <a:ext cx="66014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EE15FDC-A465-0FA7-D672-6C5D77DBC8C2}"/>
              </a:ext>
            </a:extLst>
          </p:cNvPr>
          <p:cNvSpPr/>
          <p:nvPr/>
        </p:nvSpPr>
        <p:spPr>
          <a:xfrm>
            <a:off x="7520940" y="5320660"/>
            <a:ext cx="73152" cy="77724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E83171A-3AC5-16C1-6E87-3D86B4347917}"/>
              </a:ext>
            </a:extLst>
          </p:cNvPr>
          <p:cNvSpPr/>
          <p:nvPr/>
        </p:nvSpPr>
        <p:spPr>
          <a:xfrm>
            <a:off x="7749540" y="5430388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FFC000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52E3966-4B7D-8E6B-670E-4D283DF63400}"/>
              </a:ext>
            </a:extLst>
          </p:cNvPr>
          <p:cNvSpPr/>
          <p:nvPr/>
        </p:nvSpPr>
        <p:spPr>
          <a:xfrm>
            <a:off x="7749540" y="54303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피크 대응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3024772-2BB1-57B1-FC16-D4C8724BED49}"/>
              </a:ext>
            </a:extLst>
          </p:cNvPr>
          <p:cNvSpPr/>
          <p:nvPr/>
        </p:nvSpPr>
        <p:spPr>
          <a:xfrm>
            <a:off x="9304020" y="5393812"/>
            <a:ext cx="4498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On-Demand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A7FD7D3-0266-483F-1FD7-DCFE59C24ECF}"/>
              </a:ext>
            </a:extLst>
          </p:cNvPr>
          <p:cNvSpPr/>
          <p:nvPr/>
        </p:nvSpPr>
        <p:spPr>
          <a:xfrm>
            <a:off x="9304020" y="5704708"/>
            <a:ext cx="4498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예측 불가 수요 처리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6FCCE2A-DDF0-EA89-AA14-A99A6D1284BD}"/>
              </a:ext>
            </a:extLst>
          </p:cNvPr>
          <p:cNvSpPr/>
          <p:nvPr/>
        </p:nvSpPr>
        <p:spPr>
          <a:xfrm>
            <a:off x="7520940" y="6262492"/>
            <a:ext cx="66014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B64680A-9020-CD6A-799B-DBE1B1AB8414}"/>
              </a:ext>
            </a:extLst>
          </p:cNvPr>
          <p:cNvSpPr/>
          <p:nvPr/>
        </p:nvSpPr>
        <p:spPr>
          <a:xfrm>
            <a:off x="7520940" y="6262492"/>
            <a:ext cx="73152" cy="777240"/>
          </a:xfrm>
          <a:prstGeom prst="rect">
            <a:avLst/>
          </a:prstGeom>
          <a:solidFill>
            <a:srgbClr val="70AD47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BACF79A-7D4A-6FE9-5B39-BB642C6FA851}"/>
              </a:ext>
            </a:extLst>
          </p:cNvPr>
          <p:cNvSpPr/>
          <p:nvPr/>
        </p:nvSpPr>
        <p:spPr>
          <a:xfrm>
            <a:off x="7749540" y="6372220"/>
            <a:ext cx="1371600" cy="237744"/>
          </a:xfrm>
          <a:prstGeom prst="roundRect">
            <a:avLst>
              <a:gd name="adj" fmla="val 15385"/>
            </a:avLst>
          </a:prstGeom>
          <a:solidFill>
            <a:srgbClr val="70AD47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927A631-25B3-FFCC-E098-DC4272C89630}"/>
              </a:ext>
            </a:extLst>
          </p:cNvPr>
          <p:cNvSpPr/>
          <p:nvPr/>
        </p:nvSpPr>
        <p:spPr>
          <a:xfrm>
            <a:off x="7749540" y="63722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배치/비정기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A3BD165-81AD-15FB-C138-43994CA9A5F1}"/>
              </a:ext>
            </a:extLst>
          </p:cNvPr>
          <p:cNvSpPr/>
          <p:nvPr/>
        </p:nvSpPr>
        <p:spPr>
          <a:xfrm>
            <a:off x="9304020" y="6335644"/>
            <a:ext cx="44983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Spot Instances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39D2B86-F938-75AD-8426-DF33E74B39A9}"/>
              </a:ext>
            </a:extLst>
          </p:cNvPr>
          <p:cNvSpPr/>
          <p:nvPr/>
        </p:nvSpPr>
        <p:spPr>
          <a:xfrm>
            <a:off x="9304020" y="6646540"/>
            <a:ext cx="4498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극소화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9D02AF0-DAFF-7A55-3DC5-382CF9D26E69}"/>
              </a:ext>
            </a:extLst>
          </p:cNvPr>
          <p:cNvSpPr/>
          <p:nvPr/>
        </p:nvSpPr>
        <p:spPr>
          <a:xfrm>
            <a:off x="7520940" y="7250044"/>
            <a:ext cx="6601460" cy="384048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E772FAE-7B53-B818-1CC9-8ED7893DC4E2}"/>
              </a:ext>
            </a:extLst>
          </p:cNvPr>
          <p:cNvSpPr/>
          <p:nvPr/>
        </p:nvSpPr>
        <p:spPr>
          <a:xfrm>
            <a:off x="7703820" y="7250044"/>
            <a:ext cx="62357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💡 권장  </a:t>
            </a:r>
            <a:r>
              <a:rPr lang="en-US" sz="13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세 가지 전략을 워크로드 특성에 맞게 조합하여 비용 최적화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4212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18D4-B54A-626E-CDCF-AF724C10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9432AD79-3EFC-056F-1D73-D1B10D46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(Operate) — FinOps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517CDC9-F41F-FA9C-590C-894A0B2A3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13</a:t>
            </a:fld>
            <a:endParaRPr kumimoji="1" lang="ko-Kore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5E6F2B-142B-7785-F8A8-489D9A0CE9DA}"/>
              </a:ext>
            </a:extLst>
          </p:cNvPr>
          <p:cNvSpPr/>
          <p:nvPr/>
        </p:nvSpPr>
        <p:spPr>
          <a:xfrm>
            <a:off x="508000" y="1143000"/>
            <a:ext cx="136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탐지→권고→승인→적용→검증 파이프라인 구축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F39B30-150E-A366-7D42-29016868E29D}"/>
              </a:ext>
            </a:extLst>
          </p:cNvPr>
          <p:cNvSpPr/>
          <p:nvPr/>
        </p:nvSpPr>
        <p:spPr>
          <a:xfrm>
            <a:off x="508000" y="1554480"/>
            <a:ext cx="13614400" cy="292608"/>
          </a:xfrm>
          <a:prstGeom prst="roundRect">
            <a:avLst>
              <a:gd name="adj" fmla="val 1875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DB7F1C-9BFC-5BF3-4792-4E14243DE841}"/>
              </a:ext>
            </a:extLst>
          </p:cNvPr>
          <p:cNvSpPr/>
          <p:nvPr/>
        </p:nvSpPr>
        <p:spPr>
          <a:xfrm>
            <a:off x="599440" y="1554480"/>
            <a:ext cx="134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도구 생태계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E2B24FA8-F992-36C6-68BE-022D3E92C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438736"/>
              </p:ext>
            </p:extLst>
          </p:nvPr>
        </p:nvGraphicFramePr>
        <p:xfrm>
          <a:off x="508000" y="1901952"/>
          <a:ext cx="13614400" cy="1755650"/>
        </p:xfrm>
        <a:graphic>
          <a:graphicData uri="http://schemas.openxmlformats.org/drawingml/2006/table">
            <a:tbl>
              <a:tblPr/>
              <a:tblGrid>
                <a:gridCol w="2450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5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13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CSP 네이티브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AWS Cost Explorer, Azure Cost Mgmt, GCP Billing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무료, 기본 기능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써드파티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Apptio Cloudability, CloudHealth, Kubecost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멀티클라우드, 고급 분석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OpenCost, Infracost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Kubernetes 특화, IaC 비용 예측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삼성SDS Cloud inOne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하이브리드/멀티클라우드 통합 관리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>
            <a:extLst>
              <a:ext uri="{FF2B5EF4-FFF2-40B4-BE49-F238E27FC236}">
                <a16:creationId xmlns:a16="http://schemas.microsoft.com/office/drawing/2014/main" id="{3A3823A7-934B-7CE0-AF2C-8AA6DF6702F3}"/>
              </a:ext>
            </a:extLst>
          </p:cNvPr>
          <p:cNvSpPr/>
          <p:nvPr/>
        </p:nvSpPr>
        <p:spPr>
          <a:xfrm>
            <a:off x="508000" y="3908985"/>
            <a:ext cx="6534912" cy="1161288"/>
          </a:xfrm>
          <a:prstGeom prst="roundRect">
            <a:avLst>
              <a:gd name="adj" fmla="val 69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EB8F8A5-7071-EBAC-C432-720EEB0126AD}"/>
              </a:ext>
            </a:extLst>
          </p:cNvPr>
          <p:cNvSpPr/>
          <p:nvPr/>
        </p:nvSpPr>
        <p:spPr>
          <a:xfrm>
            <a:off x="617728" y="3963849"/>
            <a:ext cx="631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FOCUS (FinOps Open Cost &amp; Usage Specification)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3994C84-BF10-A35D-87DA-61DE5E61AC67}"/>
              </a:ext>
            </a:extLst>
          </p:cNvPr>
          <p:cNvSpPr/>
          <p:nvPr/>
        </p:nvSpPr>
        <p:spPr>
          <a:xfrm>
            <a:off x="617728" y="4201593"/>
            <a:ext cx="6315456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FinOps Foundation 주도의 멀티클라우드 비용 데이터 표준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CSP별 상이한 청구 데이터 포맷을 </a:t>
            </a:r>
            <a:r>
              <a:rPr lang="en-US" sz="1400" b="1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통일된 스키마로 정규화</a:t>
            </a:r>
            <a:endParaRPr lang="en-US" sz="1200" b="1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멀티클라우드 환경의 비용 분석 단순화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57% 조직이 FOCUS 도입 계획 (State of FinOps 2025)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66157A0-961F-5DE1-0027-852225E013FC}"/>
              </a:ext>
            </a:extLst>
          </p:cNvPr>
          <p:cNvSpPr/>
          <p:nvPr/>
        </p:nvSpPr>
        <p:spPr>
          <a:xfrm>
            <a:off x="508000" y="5244936"/>
            <a:ext cx="6534912" cy="256032"/>
          </a:xfrm>
          <a:prstGeom prst="roundRect">
            <a:avLst>
              <a:gd name="adj" fmla="val 1785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D42522F-4C97-5EE4-CA45-D9C9B1B0D8EC}"/>
              </a:ext>
            </a:extLst>
          </p:cNvPr>
          <p:cNvSpPr/>
          <p:nvPr/>
        </p:nvSpPr>
        <p:spPr>
          <a:xfrm>
            <a:off x="599440" y="5244936"/>
            <a:ext cx="635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최적화 자동화 사례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198F23B0-D570-E788-3CF9-506BA0171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07289"/>
              </p:ext>
            </p:extLst>
          </p:nvPr>
        </p:nvGraphicFramePr>
        <p:xfrm>
          <a:off x="508000" y="5537544"/>
          <a:ext cx="6534912" cy="2011680"/>
        </p:xfrm>
        <a:graphic>
          <a:graphicData uri="http://schemas.openxmlformats.org/drawingml/2006/table">
            <a:tbl>
              <a:tblPr/>
              <a:tblGrid>
                <a:gridCol w="1960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4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 유형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구현 방법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절감 효과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미사용 리소스 정리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Lambda/스크립트로 주기적 스캔·삭제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즉시 절감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스케줄 기반 시작/중지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비운영 시간대 개발 환경 자동 중지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40~60%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태그 정책 강제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IaC 파이프라인에 태그 검증 통합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가시성 확보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Right-sizing 권고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Compute Optimizer + 자동 적용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10~30%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9">
            <a:extLst>
              <a:ext uri="{FF2B5EF4-FFF2-40B4-BE49-F238E27FC236}">
                <a16:creationId xmlns:a16="http://schemas.microsoft.com/office/drawing/2014/main" id="{3AD775C9-FCF7-340C-2D59-F2C4BA57573A}"/>
              </a:ext>
            </a:extLst>
          </p:cNvPr>
          <p:cNvSpPr/>
          <p:nvPr/>
        </p:nvSpPr>
        <p:spPr>
          <a:xfrm>
            <a:off x="7271512" y="3908985"/>
            <a:ext cx="6850888" cy="292608"/>
          </a:xfrm>
          <a:prstGeom prst="roundRect">
            <a:avLst>
              <a:gd name="adj" fmla="val 1875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47684D9B-E546-6DE5-C241-1CE218CF4344}"/>
              </a:ext>
            </a:extLst>
          </p:cNvPr>
          <p:cNvSpPr/>
          <p:nvPr/>
        </p:nvSpPr>
        <p:spPr>
          <a:xfrm>
            <a:off x="7362952" y="3908985"/>
            <a:ext cx="6668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최적화 파이프라인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C07861D8-6CE1-7D09-46F0-29EF85FAA18C}"/>
              </a:ext>
            </a:extLst>
          </p:cNvPr>
          <p:cNvSpPr/>
          <p:nvPr/>
        </p:nvSpPr>
        <p:spPr>
          <a:xfrm>
            <a:off x="7271512" y="4293033"/>
            <a:ext cx="685088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DD87AE12-1675-524D-D8CA-2D6DD1B958DA}"/>
              </a:ext>
            </a:extLst>
          </p:cNvPr>
          <p:cNvSpPr/>
          <p:nvPr/>
        </p:nvSpPr>
        <p:spPr>
          <a:xfrm>
            <a:off x="7454392" y="4430193"/>
            <a:ext cx="6485128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B3982A5-8754-6BFA-49B2-3E5B1721CC28}"/>
              </a:ext>
            </a:extLst>
          </p:cNvPr>
          <p:cNvSpPr/>
          <p:nvPr/>
        </p:nvSpPr>
        <p:spPr>
          <a:xfrm>
            <a:off x="7545832" y="4430193"/>
            <a:ext cx="2918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 탐지 (Detect)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D1CE167B-8131-C762-739A-8942887B584D}"/>
              </a:ext>
            </a:extLst>
          </p:cNvPr>
          <p:cNvSpPr/>
          <p:nvPr/>
        </p:nvSpPr>
        <p:spPr>
          <a:xfrm>
            <a:off x="10372700" y="4430193"/>
            <a:ext cx="3372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 비용·미사용 리소스 자동 스캔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3CD5EB34-EAB9-92F5-BAA2-739663E984CD}"/>
              </a:ext>
            </a:extLst>
          </p:cNvPr>
          <p:cNvSpPr/>
          <p:nvPr/>
        </p:nvSpPr>
        <p:spPr>
          <a:xfrm>
            <a:off x="7454392" y="4795953"/>
            <a:ext cx="6485128" cy="27432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4236FFE1-C381-A7FD-EAD6-D1661E3E0D15}"/>
              </a:ext>
            </a:extLst>
          </p:cNvPr>
          <p:cNvSpPr/>
          <p:nvPr/>
        </p:nvSpPr>
        <p:spPr>
          <a:xfrm>
            <a:off x="7545832" y="4795953"/>
            <a:ext cx="2918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 권고 (Recommend)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A8B22209-C3F5-6855-20A9-3975CF94DA5B}"/>
              </a:ext>
            </a:extLst>
          </p:cNvPr>
          <p:cNvSpPr/>
          <p:nvPr/>
        </p:nvSpPr>
        <p:spPr>
          <a:xfrm>
            <a:off x="10372700" y="4795953"/>
            <a:ext cx="3372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최적화 방안 자동 생성·우선순위 산정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8F88349B-89B6-7231-B59E-8C155B30B166}"/>
              </a:ext>
            </a:extLst>
          </p:cNvPr>
          <p:cNvSpPr/>
          <p:nvPr/>
        </p:nvSpPr>
        <p:spPr>
          <a:xfrm>
            <a:off x="7454392" y="5161713"/>
            <a:ext cx="6485128" cy="27432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2D695065-577B-C672-F7E0-2FFD6D18D0B1}"/>
              </a:ext>
            </a:extLst>
          </p:cNvPr>
          <p:cNvSpPr/>
          <p:nvPr/>
        </p:nvSpPr>
        <p:spPr>
          <a:xfrm>
            <a:off x="7545832" y="5161713"/>
            <a:ext cx="2918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 승인 (Approve)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C81DBC89-146A-C8C8-F127-3C223B627DD3}"/>
              </a:ext>
            </a:extLst>
          </p:cNvPr>
          <p:cNvSpPr/>
          <p:nvPr/>
        </p:nvSpPr>
        <p:spPr>
          <a:xfrm>
            <a:off x="10372700" y="5161713"/>
            <a:ext cx="3372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담당자 리뷰·승인 워크플로우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2ABEC04C-703A-2AAE-803D-6FF7D33D7B42}"/>
              </a:ext>
            </a:extLst>
          </p:cNvPr>
          <p:cNvSpPr/>
          <p:nvPr/>
        </p:nvSpPr>
        <p:spPr>
          <a:xfrm>
            <a:off x="7454392" y="5527473"/>
            <a:ext cx="6485128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101545B-24B8-0E9F-8AD5-84C28DC8A5DC}"/>
              </a:ext>
            </a:extLst>
          </p:cNvPr>
          <p:cNvSpPr/>
          <p:nvPr/>
        </p:nvSpPr>
        <p:spPr>
          <a:xfrm>
            <a:off x="7545832" y="5527473"/>
            <a:ext cx="2918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 적용 (Apply)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8600E813-28B3-5E03-6E4A-1BE21484F321}"/>
              </a:ext>
            </a:extLst>
          </p:cNvPr>
          <p:cNvSpPr/>
          <p:nvPr/>
        </p:nvSpPr>
        <p:spPr>
          <a:xfrm>
            <a:off x="10372700" y="5527473"/>
            <a:ext cx="3372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IaC/자동화로 변경 적용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190D6F4B-C6DC-B223-6663-04109383CA8D}"/>
              </a:ext>
            </a:extLst>
          </p:cNvPr>
          <p:cNvSpPr/>
          <p:nvPr/>
        </p:nvSpPr>
        <p:spPr>
          <a:xfrm>
            <a:off x="7454392" y="5893233"/>
            <a:ext cx="6485128" cy="27432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12A80690-E4BA-D15E-8B1A-A4066457EC5A}"/>
              </a:ext>
            </a:extLst>
          </p:cNvPr>
          <p:cNvSpPr/>
          <p:nvPr/>
        </p:nvSpPr>
        <p:spPr>
          <a:xfrm>
            <a:off x="7545832" y="5893233"/>
            <a:ext cx="29183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 검증 (Verify)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B383CEE-849B-4458-DB5B-7CCA4E489AF5}"/>
              </a:ext>
            </a:extLst>
          </p:cNvPr>
          <p:cNvSpPr/>
          <p:nvPr/>
        </p:nvSpPr>
        <p:spPr>
          <a:xfrm>
            <a:off x="10372700" y="5893233"/>
            <a:ext cx="337226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절감 효과 측정·보고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D4A40CA6-26A2-E83D-88AE-D844A7434F74}"/>
              </a:ext>
            </a:extLst>
          </p:cNvPr>
          <p:cNvSpPr/>
          <p:nvPr/>
        </p:nvSpPr>
        <p:spPr>
          <a:xfrm>
            <a:off x="7271512" y="6441872"/>
            <a:ext cx="6850888" cy="1107351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1C02C1EE-48AD-0EB9-69BE-8791AB9CC396}"/>
              </a:ext>
            </a:extLst>
          </p:cNvPr>
          <p:cNvSpPr/>
          <p:nvPr/>
        </p:nvSpPr>
        <p:spPr>
          <a:xfrm>
            <a:off x="7381240" y="6496737"/>
            <a:ext cx="66314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Shift-Left FinOps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570F9C79-6701-7EEA-4CF9-3ABCBA84FED2}"/>
              </a:ext>
            </a:extLst>
          </p:cNvPr>
          <p:cNvSpPr/>
          <p:nvPr/>
        </p:nvSpPr>
        <p:spPr>
          <a:xfrm>
            <a:off x="7381240" y="6747189"/>
            <a:ext cx="66314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IaC(Terraform, CloudFormation)와 비용 정책 통합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Infracost: terraform plan 시 예상 비용 변화 자동 표시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PR 리뷰에 비용 영향 분석 포함 → 배포 전 비용 인식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973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17E29-58B4-784C-5097-3B14DFA6D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B97F009-3A06-452D-C0F3-82D5548F5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(Operate)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경제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(Unit Economics)와 KPI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C175EC0-EA90-2BD1-3D22-7178027C6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14</a:t>
            </a:fld>
            <a:endParaRPr kumimoji="1" lang="ko-Kore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F64EC2-4708-D5FB-C3A2-B57813E982BE}"/>
              </a:ext>
            </a:extLst>
          </p:cNvPr>
          <p:cNvSpPr/>
          <p:nvPr/>
        </p:nvSpPr>
        <p:spPr>
          <a:xfrm>
            <a:off x="508000" y="1051560"/>
            <a:ext cx="136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Biz 성과의 단위당 비용 측정 포함 FinOps KPI 설계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80E2A3B-E956-72E2-212A-D09659AEE292}"/>
              </a:ext>
            </a:extLst>
          </p:cNvPr>
          <p:cNvSpPr/>
          <p:nvPr/>
        </p:nvSpPr>
        <p:spPr>
          <a:xfrm>
            <a:off x="508000" y="1508760"/>
            <a:ext cx="13614400" cy="9144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AD2AA5-6340-8B2A-C804-8820F67A586E}"/>
              </a:ext>
            </a:extLst>
          </p:cNvPr>
          <p:cNvSpPr/>
          <p:nvPr/>
        </p:nvSpPr>
        <p:spPr>
          <a:xfrm>
            <a:off x="645160" y="1581912"/>
            <a:ext cx="133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비용 증가 ≠ FinOps 실패 | 비즈니스 성장을 수반하는 비용 증가는 건강한 성장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BB0229-4CA9-1532-F7EF-89FACDA931E3}"/>
              </a:ext>
            </a:extLst>
          </p:cNvPr>
          <p:cNvSpPr/>
          <p:nvPr/>
        </p:nvSpPr>
        <p:spPr>
          <a:xfrm>
            <a:off x="645160" y="1837944"/>
            <a:ext cx="133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질문: "트래픽 1건 처리 비용이 감소하고 있는가?"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F8D826-2EB0-2C6B-B136-0B1D3E785D79}"/>
              </a:ext>
            </a:extLst>
          </p:cNvPr>
          <p:cNvSpPr/>
          <p:nvPr/>
        </p:nvSpPr>
        <p:spPr>
          <a:xfrm>
            <a:off x="645160" y="2093976"/>
            <a:ext cx="133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사례: 우아한형제들 — 트래픽 1건 처리 비용 = 클라우드 비용 ÷ 트래픽 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25A2B8-EAAB-6BD9-1823-DD49C2292289}"/>
              </a:ext>
            </a:extLst>
          </p:cNvPr>
          <p:cNvSpPr/>
          <p:nvPr/>
        </p:nvSpPr>
        <p:spPr>
          <a:xfrm>
            <a:off x="508000" y="4634426"/>
            <a:ext cx="6692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활성화/도입 메트릭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4BD03D60-A9C0-CCFF-A4B4-537610545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54140"/>
              </p:ext>
            </p:extLst>
          </p:nvPr>
        </p:nvGraphicFramePr>
        <p:xfrm>
          <a:off x="508000" y="4909520"/>
          <a:ext cx="6692900" cy="2268520"/>
        </p:xfrm>
        <a:graphic>
          <a:graphicData uri="http://schemas.openxmlformats.org/drawingml/2006/table">
            <a:tbl>
              <a:tblPr/>
              <a:tblGrid>
                <a:gridCol w="2342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7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KPI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예시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태깅 커버리지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태그 적용된 리소스 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95% 이상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미할당 비용 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부서에 할당되지 않은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5% 이하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청구 데이터 최신성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데이터 반영 지연 시간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24시간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RI/SP 커버리지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약정 할인이 적용된 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70% 이상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4D0271A6-CBC6-FD00-DEF5-E9F68B5D4BD9}"/>
              </a:ext>
            </a:extLst>
          </p:cNvPr>
          <p:cNvSpPr/>
          <p:nvPr/>
        </p:nvSpPr>
        <p:spPr>
          <a:xfrm>
            <a:off x="7429500" y="4634426"/>
            <a:ext cx="6692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성과 메트릭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12" name="Table 1">
            <a:extLst>
              <a:ext uri="{FF2B5EF4-FFF2-40B4-BE49-F238E27FC236}">
                <a16:creationId xmlns:a16="http://schemas.microsoft.com/office/drawing/2014/main" id="{4CE6C188-7B8C-5DC4-18EF-003469E521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367997"/>
              </p:ext>
            </p:extLst>
          </p:nvPr>
        </p:nvGraphicFramePr>
        <p:xfrm>
          <a:off x="7429500" y="4909520"/>
          <a:ext cx="6692900" cy="2268520"/>
        </p:xfrm>
        <a:graphic>
          <a:graphicData uri="http://schemas.openxmlformats.org/drawingml/2006/table">
            <a:tbl>
              <a:tblPr/>
              <a:tblGrid>
                <a:gridCol w="2342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7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KPI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산업별 예시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단위당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단위당 클라우드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이커머스: 주문 1건당 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예측 정확도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 대비 실제 차이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MAE/MAPE 10% 이내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RI/SP 활용률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구매한 약정의 실제 사용 비율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80% 이상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7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회수된 낭비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최적화로 절감한 금액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월간 추적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8">
            <a:extLst>
              <a:ext uri="{FF2B5EF4-FFF2-40B4-BE49-F238E27FC236}">
                <a16:creationId xmlns:a16="http://schemas.microsoft.com/office/drawing/2014/main" id="{B8176AD7-A4BF-5AA3-677D-76AB7D3026ED}"/>
              </a:ext>
            </a:extLst>
          </p:cNvPr>
          <p:cNvSpPr/>
          <p:nvPr/>
        </p:nvSpPr>
        <p:spPr>
          <a:xfrm>
            <a:off x="509567" y="2892452"/>
            <a:ext cx="330073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2FD59C52-32D2-0950-3FD2-A10549A0AAF0}"/>
              </a:ext>
            </a:extLst>
          </p:cNvPr>
          <p:cNvSpPr/>
          <p:nvPr/>
        </p:nvSpPr>
        <p:spPr>
          <a:xfrm>
            <a:off x="601007" y="2983892"/>
            <a:ext cx="31178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이커머스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7BF824AC-2578-6DE2-95CB-9F9BA5084508}"/>
              </a:ext>
            </a:extLst>
          </p:cNvPr>
          <p:cNvSpPr/>
          <p:nvPr/>
        </p:nvSpPr>
        <p:spPr>
          <a:xfrm>
            <a:off x="582719" y="3303932"/>
            <a:ext cx="31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주문 1건 처리 비용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9CB2FF7C-803F-1FD3-52DC-841685C9F62A}"/>
              </a:ext>
            </a:extLst>
          </p:cNvPr>
          <p:cNvSpPr/>
          <p:nvPr/>
        </p:nvSpPr>
        <p:spPr>
          <a:xfrm>
            <a:off x="582719" y="3715412"/>
            <a:ext cx="31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클라우드 비용 ÷ 주문 수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09A619FC-A8F5-062F-558D-F217A4229FD7}"/>
              </a:ext>
            </a:extLst>
          </p:cNvPr>
          <p:cNvSpPr/>
          <p:nvPr/>
        </p:nvSpPr>
        <p:spPr>
          <a:xfrm>
            <a:off x="3947457" y="2892452"/>
            <a:ext cx="330073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55A6F8E-465A-DC68-7C10-5E03DEDCC268}"/>
              </a:ext>
            </a:extLst>
          </p:cNvPr>
          <p:cNvSpPr/>
          <p:nvPr/>
        </p:nvSpPr>
        <p:spPr>
          <a:xfrm>
            <a:off x="4038897" y="2983892"/>
            <a:ext cx="31178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물류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ACBBE56-300C-94A8-769C-D6FAA1DA0E3B}"/>
              </a:ext>
            </a:extLst>
          </p:cNvPr>
          <p:cNvSpPr/>
          <p:nvPr/>
        </p:nvSpPr>
        <p:spPr>
          <a:xfrm>
            <a:off x="4020609" y="3303932"/>
            <a:ext cx="31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배송 1건 처리 비용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39EE29FD-4574-F139-816F-897F9CF1C9A8}"/>
              </a:ext>
            </a:extLst>
          </p:cNvPr>
          <p:cNvSpPr/>
          <p:nvPr/>
        </p:nvSpPr>
        <p:spPr>
          <a:xfrm>
            <a:off x="4020609" y="3715412"/>
            <a:ext cx="31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클라우드 비용 ÷ 배송 수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9229EFC7-93AD-1613-6523-118FD6FA1A39}"/>
              </a:ext>
            </a:extLst>
          </p:cNvPr>
          <p:cNvSpPr/>
          <p:nvPr/>
        </p:nvSpPr>
        <p:spPr>
          <a:xfrm>
            <a:off x="7385347" y="2892452"/>
            <a:ext cx="3300730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EAA4A984-141B-A508-E19A-4F9F8F2574DA}"/>
              </a:ext>
            </a:extLst>
          </p:cNvPr>
          <p:cNvSpPr/>
          <p:nvPr/>
        </p:nvSpPr>
        <p:spPr>
          <a:xfrm>
            <a:off x="7476787" y="2983892"/>
            <a:ext cx="31178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SaaS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AF8DF87-4E8B-B6A2-2D2C-7549119A5F79}"/>
              </a:ext>
            </a:extLst>
          </p:cNvPr>
          <p:cNvSpPr/>
          <p:nvPr/>
        </p:nvSpPr>
        <p:spPr>
          <a:xfrm>
            <a:off x="7458499" y="3303932"/>
            <a:ext cx="31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MAU당 비용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C8C47E8F-AB3B-DD4E-CDEB-969CEDC44693}"/>
              </a:ext>
            </a:extLst>
          </p:cNvPr>
          <p:cNvSpPr/>
          <p:nvPr/>
        </p:nvSpPr>
        <p:spPr>
          <a:xfrm>
            <a:off x="7458499" y="3715412"/>
            <a:ext cx="31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클라우드 비용 ÷ MAU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C0E1D45A-F3FF-47CD-3604-20CD6852AA1E}"/>
              </a:ext>
            </a:extLst>
          </p:cNvPr>
          <p:cNvSpPr/>
          <p:nvPr/>
        </p:nvSpPr>
        <p:spPr>
          <a:xfrm>
            <a:off x="10823237" y="2892452"/>
            <a:ext cx="3300730" cy="146304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4A214552-E0E2-57DB-E9A9-9B869ACD06E1}"/>
              </a:ext>
            </a:extLst>
          </p:cNvPr>
          <p:cNvSpPr/>
          <p:nvPr/>
        </p:nvSpPr>
        <p:spPr>
          <a:xfrm>
            <a:off x="10914677" y="2983892"/>
            <a:ext cx="311785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서비스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7314225-5D12-3B6E-D8B0-620051913CD0}"/>
              </a:ext>
            </a:extLst>
          </p:cNvPr>
          <p:cNvSpPr/>
          <p:nvPr/>
        </p:nvSpPr>
        <p:spPr>
          <a:xfrm>
            <a:off x="10896389" y="3303932"/>
            <a:ext cx="315442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추론 1건 비용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8B81C372-DE8F-D089-26FB-03B735322B62}"/>
              </a:ext>
            </a:extLst>
          </p:cNvPr>
          <p:cNvSpPr/>
          <p:nvPr/>
        </p:nvSpPr>
        <p:spPr>
          <a:xfrm>
            <a:off x="10896389" y="3715412"/>
            <a:ext cx="31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클라우드 비용 ÷ 추론 요청 수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0123511F-3E57-3BB7-AC54-271144E6C3A2}"/>
              </a:ext>
            </a:extLst>
          </p:cNvPr>
          <p:cNvSpPr/>
          <p:nvPr/>
        </p:nvSpPr>
        <p:spPr>
          <a:xfrm>
            <a:off x="509567" y="2566727"/>
            <a:ext cx="66929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단위 경제 예시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14F461-8FDC-932E-C50C-F3C3C1121D84}"/>
              </a:ext>
            </a:extLst>
          </p:cNvPr>
          <p:cNvSpPr txBox="1"/>
          <p:nvPr/>
        </p:nvSpPr>
        <p:spPr>
          <a:xfrm>
            <a:off x="7458499" y="7220806"/>
            <a:ext cx="6663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※ MAE: Mean Absolute Error. </a:t>
            </a:r>
            <a:r>
              <a:rPr lang="ko-KR" altLang="en-US" sz="1100" dirty="0" err="1"/>
              <a:t>예측값과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실제값의</a:t>
            </a:r>
            <a:r>
              <a:rPr lang="ko-KR" altLang="en-US" sz="1100" dirty="0"/>
              <a:t> 차이 평균 </a:t>
            </a:r>
            <a:endParaRPr lang="en-US" altLang="ko-KR" sz="1100" dirty="0"/>
          </a:p>
          <a:p>
            <a:r>
              <a:rPr lang="en-US" altLang="ko-KR" sz="1100" dirty="0"/>
              <a:t>※ MAPE: Mean Absolute Percentage Error. </a:t>
            </a:r>
            <a:r>
              <a:rPr lang="ko-KR" altLang="en-US" sz="1100" dirty="0" err="1"/>
              <a:t>예측값과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실제값의</a:t>
            </a:r>
            <a:r>
              <a:rPr lang="ko-KR" altLang="en-US" sz="1100" dirty="0"/>
              <a:t> 차이 평균 비율</a:t>
            </a:r>
          </a:p>
        </p:txBody>
      </p:sp>
    </p:spTree>
    <p:extLst>
      <p:ext uri="{BB962C8B-B14F-4D97-AF65-F5344CB8AC3E}">
        <p14:creationId xmlns:p14="http://schemas.microsoft.com/office/powerpoint/2010/main" val="243829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1DE99-7515-FC48-7BC4-72214A93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2475103E-6119-745F-846D-46CBB8CC6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(Operate) —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협업문화와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거버넌스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E1C8B10-7C71-E951-2DB9-590D062A1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15</a:t>
            </a:fld>
            <a:endParaRPr kumimoji="1" lang="ko-Kore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2AF57D-D19A-BFE0-82E6-ED9126FF2FC6}"/>
              </a:ext>
            </a:extLst>
          </p:cNvPr>
          <p:cNvSpPr/>
          <p:nvPr/>
        </p:nvSpPr>
        <p:spPr>
          <a:xfrm>
            <a:off x="508000" y="1134608"/>
            <a:ext cx="136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정기적 비용 리뷰와 비용 관리 프로세스 수립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Image 0" descr="/sessions/awesome-kind-galileo/mnt/courseware/output/images/finops_org_structure.png">
            <a:extLst>
              <a:ext uri="{FF2B5EF4-FFF2-40B4-BE49-F238E27FC236}">
                <a16:creationId xmlns:a16="http://schemas.microsoft.com/office/drawing/2014/main" id="{7616AB9B-6D29-35B4-7C2F-5ED50F68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546088"/>
            <a:ext cx="6692900" cy="32004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21F82324-710E-34FC-5BE3-868159385825}"/>
              </a:ext>
            </a:extLst>
          </p:cNvPr>
          <p:cNvSpPr/>
          <p:nvPr/>
        </p:nvSpPr>
        <p:spPr>
          <a:xfrm>
            <a:off x="508000" y="4929368"/>
            <a:ext cx="6692900" cy="292608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B62F10-0905-CB1A-A795-39985519D0F4}"/>
              </a:ext>
            </a:extLst>
          </p:cNvPr>
          <p:cNvSpPr/>
          <p:nvPr/>
        </p:nvSpPr>
        <p:spPr>
          <a:xfrm>
            <a:off x="599440" y="4929368"/>
            <a:ext cx="65100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Cost-Aware Engineering 문화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9B83E38-06AB-626F-0401-98B2120355D6}"/>
              </a:ext>
            </a:extLst>
          </p:cNvPr>
          <p:cNvSpPr/>
          <p:nvPr/>
        </p:nvSpPr>
        <p:spPr>
          <a:xfrm>
            <a:off x="508000" y="5313416"/>
            <a:ext cx="6692900" cy="438912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BF3A094-20B5-7655-59C3-8A535EFA9E7F}"/>
              </a:ext>
            </a:extLst>
          </p:cNvPr>
          <p:cNvSpPr/>
          <p:nvPr/>
        </p:nvSpPr>
        <p:spPr>
          <a:xfrm>
            <a:off x="599440" y="5331704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가시성 제공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CD43113-62AC-4465-6FE2-2BA39CE72863}"/>
              </a:ext>
            </a:extLst>
          </p:cNvPr>
          <p:cNvSpPr/>
          <p:nvPr/>
        </p:nvSpPr>
        <p:spPr>
          <a:xfrm>
            <a:off x="599440" y="5496296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엔지니어에게 서비스 비용 대시보드 제공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43CE458-8CD9-0666-F208-6C08B907C81B}"/>
              </a:ext>
            </a:extLst>
          </p:cNvPr>
          <p:cNvSpPr/>
          <p:nvPr/>
        </p:nvSpPr>
        <p:spPr>
          <a:xfrm>
            <a:off x="508000" y="5825480"/>
            <a:ext cx="6692900" cy="438912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7FC32A2-C724-A54F-8D28-FF67B2133ECB}"/>
              </a:ext>
            </a:extLst>
          </p:cNvPr>
          <p:cNvSpPr/>
          <p:nvPr/>
        </p:nvSpPr>
        <p:spPr>
          <a:xfrm>
            <a:off x="599440" y="5843768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인센티브 설계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94F7859-8477-FB4F-9E4B-9A2126F91ADB}"/>
              </a:ext>
            </a:extLst>
          </p:cNvPr>
          <p:cNvSpPr/>
          <p:nvPr/>
        </p:nvSpPr>
        <p:spPr>
          <a:xfrm>
            <a:off x="599440" y="6008360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절감 성과를 팀 평가에 반영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459FC1C-4E5E-951B-23FE-BF52236E86D6}"/>
              </a:ext>
            </a:extLst>
          </p:cNvPr>
          <p:cNvSpPr/>
          <p:nvPr/>
        </p:nvSpPr>
        <p:spPr>
          <a:xfrm>
            <a:off x="508000" y="6337544"/>
            <a:ext cx="6692900" cy="438912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99C59973-E656-D0D8-EB1E-0C91DF8ACB67}"/>
              </a:ext>
            </a:extLst>
          </p:cNvPr>
          <p:cNvSpPr/>
          <p:nvPr/>
        </p:nvSpPr>
        <p:spPr>
          <a:xfrm>
            <a:off x="599440" y="6355832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교육 프로그램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7D443B4-6816-4359-B20B-59BFCCF2FAEB}"/>
              </a:ext>
            </a:extLst>
          </p:cNvPr>
          <p:cNvSpPr/>
          <p:nvPr/>
        </p:nvSpPr>
        <p:spPr>
          <a:xfrm>
            <a:off x="599440" y="6520424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기본 교육을 온보딩에 포함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07A457F-D182-B581-BABB-DAFF5788DC74}"/>
              </a:ext>
            </a:extLst>
          </p:cNvPr>
          <p:cNvSpPr/>
          <p:nvPr/>
        </p:nvSpPr>
        <p:spPr>
          <a:xfrm>
            <a:off x="508000" y="6849608"/>
            <a:ext cx="6692900" cy="438912"/>
          </a:xfrm>
          <a:prstGeom prst="roundRect">
            <a:avLst>
              <a:gd name="adj" fmla="val 8333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610B3F9-A48E-1424-4892-BB51B45776F1}"/>
              </a:ext>
            </a:extLst>
          </p:cNvPr>
          <p:cNvSpPr/>
          <p:nvPr/>
        </p:nvSpPr>
        <p:spPr>
          <a:xfrm>
            <a:off x="599440" y="6867896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셀프서비스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C9B204C-19ED-1773-AAAD-6E192CB0DB60}"/>
              </a:ext>
            </a:extLst>
          </p:cNvPr>
          <p:cNvSpPr/>
          <p:nvPr/>
        </p:nvSpPr>
        <p:spPr>
          <a:xfrm>
            <a:off x="599440" y="7032488"/>
            <a:ext cx="65100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엔지니어가 직접 비용 분석·최적화 가능한 환경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E96D3C13-3827-F6AD-1489-AEE662096574}"/>
              </a:ext>
            </a:extLst>
          </p:cNvPr>
          <p:cNvSpPr/>
          <p:nvPr/>
        </p:nvSpPr>
        <p:spPr>
          <a:xfrm>
            <a:off x="7429500" y="1546088"/>
            <a:ext cx="6692900" cy="292608"/>
          </a:xfrm>
          <a:prstGeom prst="roundRect">
            <a:avLst>
              <a:gd name="adj" fmla="val 1875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5C509E65-894F-88FA-64DD-B98AC180D3CA}"/>
              </a:ext>
            </a:extLst>
          </p:cNvPr>
          <p:cNvSpPr/>
          <p:nvPr/>
        </p:nvSpPr>
        <p:spPr>
          <a:xfrm>
            <a:off x="7520940" y="1546088"/>
            <a:ext cx="65100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팀 핵심 역할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2" name="Table 0">
            <a:extLst>
              <a:ext uri="{FF2B5EF4-FFF2-40B4-BE49-F238E27FC236}">
                <a16:creationId xmlns:a16="http://schemas.microsoft.com/office/drawing/2014/main" id="{0C7E8398-4718-729A-DE3D-C19705CB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20111"/>
              </p:ext>
            </p:extLst>
          </p:nvPr>
        </p:nvGraphicFramePr>
        <p:xfrm>
          <a:off x="7429500" y="1893560"/>
          <a:ext cx="6692900" cy="3182112"/>
        </p:xfrm>
        <a:graphic>
          <a:graphicData uri="http://schemas.openxmlformats.org/drawingml/2006/table">
            <a:tbl>
              <a:tblPr/>
              <a:tblGrid>
                <a:gridCol w="1874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소속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FinOps Practitioner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전사 비용 거버넌스 운영, 정책 수립, 도구 관리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FinOps 팀 (중앙)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엔지니어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서비스별 비용 최적화 실행, 아키텍처 개선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개발팀 (분산)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 담당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 관리, 비용 보고, ROI 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재무팀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 Owner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가치 기반 우선순위 결정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경영진 스폰서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전략적 의사결정, 조직 변화 지원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C-Level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18">
            <a:extLst>
              <a:ext uri="{FF2B5EF4-FFF2-40B4-BE49-F238E27FC236}">
                <a16:creationId xmlns:a16="http://schemas.microsoft.com/office/drawing/2014/main" id="{188BF343-B1CB-6464-C92C-3D2C646F48E0}"/>
              </a:ext>
            </a:extLst>
          </p:cNvPr>
          <p:cNvSpPr/>
          <p:nvPr/>
        </p:nvSpPr>
        <p:spPr>
          <a:xfrm>
            <a:off x="7429500" y="5212832"/>
            <a:ext cx="6692900" cy="292608"/>
          </a:xfrm>
          <a:prstGeom prst="roundRect">
            <a:avLst>
              <a:gd name="adj" fmla="val 1875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715D09D-89A8-DEAD-D158-C7C0EDF2E311}"/>
              </a:ext>
            </a:extLst>
          </p:cNvPr>
          <p:cNvSpPr/>
          <p:nvPr/>
        </p:nvSpPr>
        <p:spPr>
          <a:xfrm>
            <a:off x="7520940" y="5212832"/>
            <a:ext cx="65100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리뷰 운영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aphicFrame>
        <p:nvGraphicFramePr>
          <p:cNvPr id="25" name="Table 1">
            <a:extLst>
              <a:ext uri="{FF2B5EF4-FFF2-40B4-BE49-F238E27FC236}">
                <a16:creationId xmlns:a16="http://schemas.microsoft.com/office/drawing/2014/main" id="{CD13CBE1-478E-4B3B-F4E7-687A04952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377707"/>
              </p:ext>
            </p:extLst>
          </p:nvPr>
        </p:nvGraphicFramePr>
        <p:xfrm>
          <a:off x="7429500" y="5560304"/>
          <a:ext cx="6692900" cy="2121408"/>
        </p:xfrm>
        <a:graphic>
          <a:graphicData uri="http://schemas.openxmlformats.org/drawingml/2006/table">
            <a:tbl>
              <a:tblPr/>
              <a:tblGrid>
                <a:gridCol w="1003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참석자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FinOps 팀 + 엔지니어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 비용 리뷰, 최적화 액션 추적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재무·사업 담당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 대비 실적, KPI 리뷰, 트렌드 분석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 경영진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전략 정렬, 투자 의사결정, 성숙도 평가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6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4C78-F383-FE4A-D3C9-16B340A0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A27AD56D-D0BD-93DE-B948-4C52FF62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성숙도 진단과 최신 트렌드 적용</a:t>
            </a:r>
            <a:r>
              <a:rPr lang="en-US" altLang="ko-KR" b="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b="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FinOps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성숙도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endParaRPr lang="en-US" altLang="ko-KR" sz="32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979443-9601-D3AD-5F1E-B767FD73F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069905-AE10-E849-B625-D412908E376F}" type="slidenum">
              <a:rPr kumimoji="1" lang="ko-Kore-KR" altLang="en-US" smtClean="0"/>
              <a:pPr/>
              <a:t>16</a:t>
            </a:fld>
            <a:endParaRPr kumimoji="1" lang="ko-Kore-KR" alt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1A2109-A2B4-437C-69A9-328257817D83}"/>
              </a:ext>
            </a:extLst>
          </p:cNvPr>
          <p:cNvSpPr/>
          <p:nvPr/>
        </p:nvSpPr>
        <p:spPr>
          <a:xfrm>
            <a:off x="508000" y="1051560"/>
            <a:ext cx="13614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성숙도 기준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BB19CB6-4A9D-A2CC-0721-47F943EF0CAA}"/>
              </a:ext>
            </a:extLst>
          </p:cNvPr>
          <p:cNvGrpSpPr/>
          <p:nvPr/>
        </p:nvGrpSpPr>
        <p:grpSpPr>
          <a:xfrm>
            <a:off x="7159903" y="1294293"/>
            <a:ext cx="3388734" cy="2651760"/>
            <a:chOff x="508000" y="3289513"/>
            <a:chExt cx="4385733" cy="265176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0BDDEB4F-6148-7407-E39E-0066AD9DD51A}"/>
                </a:ext>
              </a:extLst>
            </p:cNvPr>
            <p:cNvSpPr/>
            <p:nvPr/>
          </p:nvSpPr>
          <p:spPr>
            <a:xfrm>
              <a:off x="508000" y="3289513"/>
              <a:ext cx="4385733" cy="2651760"/>
            </a:xfrm>
            <a:prstGeom prst="roundRect">
              <a:avLst>
                <a:gd name="adj" fmla="val 517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47D42ACC-F94D-5D05-051A-258748477628}"/>
                </a:ext>
              </a:extLst>
            </p:cNvPr>
            <p:cNvSpPr/>
            <p:nvPr/>
          </p:nvSpPr>
          <p:spPr>
            <a:xfrm>
              <a:off x="508000" y="3289513"/>
              <a:ext cx="4385733" cy="457200"/>
            </a:xfrm>
            <a:prstGeom prst="roundRect">
              <a:avLst>
                <a:gd name="adj" fmla="val 30000"/>
              </a:avLst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13E8E5A-D1C9-5257-33B2-4CB47770CA85}"/>
                </a:ext>
              </a:extLst>
            </p:cNvPr>
            <p:cNvSpPr/>
            <p:nvPr/>
          </p:nvSpPr>
          <p:spPr>
            <a:xfrm>
              <a:off x="645160" y="3362665"/>
              <a:ext cx="4111413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Crawl(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기초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90E30592-1D89-DD3E-DD1A-A7C5FD3B77D1}"/>
                </a:ext>
              </a:extLst>
            </p:cNvPr>
            <p:cNvSpPr/>
            <p:nvPr/>
          </p:nvSpPr>
          <p:spPr>
            <a:xfrm>
              <a:off x="645160" y="3819865"/>
              <a:ext cx="4111413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비용 가시성 확보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0A4366F3-3D56-6DDA-66DC-D9EF29FD4E81}"/>
                </a:ext>
              </a:extLst>
            </p:cNvPr>
            <p:cNvSpPr/>
            <p:nvPr/>
          </p:nvSpPr>
          <p:spPr>
            <a:xfrm>
              <a:off x="617728" y="4249633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ko-KR" alt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태깅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전략 수립 및 </a:t>
              </a:r>
              <a:r>
                <a:rPr 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기본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태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그 적용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4C5ABB3-308C-4949-A231-11578F72C4C4}"/>
                </a:ext>
              </a:extLst>
            </p:cNvPr>
            <p:cNvSpPr/>
            <p:nvPr/>
          </p:nvSpPr>
          <p:spPr>
            <a:xfrm>
              <a:off x="617728" y="4542241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청구 데이터 대시보드 구축 및 월간 비용 </a:t>
              </a:r>
              <a:r>
                <a:rPr lang="ko-KR" alt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레포팅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FCC45122-BA33-E4E9-0586-9BE835C1B4CC}"/>
                </a:ext>
              </a:extLst>
            </p:cNvPr>
            <p:cNvSpPr/>
            <p:nvPr/>
          </p:nvSpPr>
          <p:spPr>
            <a:xfrm>
              <a:off x="617728" y="4834849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핵심 </a:t>
              </a:r>
              <a:r>
                <a:rPr 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이해관계자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식별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및 역할 정의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6F7E7B7F-ED13-8CA2-7483-9C972F8CEA02}"/>
                </a:ext>
              </a:extLst>
            </p:cNvPr>
            <p:cNvSpPr/>
            <p:nvPr/>
          </p:nvSpPr>
          <p:spPr>
            <a:xfrm>
              <a:off x="617728" y="5127457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FinOps 전담 조직(CCoE) 구성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9D8EAEAB-9FF5-9C08-9488-8BB69F168066}"/>
                </a:ext>
              </a:extLst>
            </p:cNvPr>
            <p:cNvSpPr/>
            <p:nvPr/>
          </p:nvSpPr>
          <p:spPr>
            <a:xfrm>
              <a:off x="617728" y="5420065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기본 KPI 정의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EC4BBF6-FC1E-32CE-FD33-01DD53CDC42D}"/>
              </a:ext>
            </a:extLst>
          </p:cNvPr>
          <p:cNvGrpSpPr/>
          <p:nvPr/>
        </p:nvGrpSpPr>
        <p:grpSpPr>
          <a:xfrm>
            <a:off x="10716239" y="1305265"/>
            <a:ext cx="3388734" cy="2651760"/>
            <a:chOff x="5122333" y="3289513"/>
            <a:chExt cx="4385733" cy="2651760"/>
          </a:xfrm>
        </p:grpSpPr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9B72515C-4A19-CC1C-3C01-005F6B962BA8}"/>
                </a:ext>
              </a:extLst>
            </p:cNvPr>
            <p:cNvSpPr/>
            <p:nvPr/>
          </p:nvSpPr>
          <p:spPr>
            <a:xfrm>
              <a:off x="5122333" y="3289513"/>
              <a:ext cx="4385733" cy="2651760"/>
            </a:xfrm>
            <a:prstGeom prst="roundRect">
              <a:avLst>
                <a:gd name="adj" fmla="val 517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F29BCE04-697F-AB01-F63C-D076A90D7287}"/>
                </a:ext>
              </a:extLst>
            </p:cNvPr>
            <p:cNvSpPr/>
            <p:nvPr/>
          </p:nvSpPr>
          <p:spPr>
            <a:xfrm>
              <a:off x="5122333" y="3289513"/>
              <a:ext cx="4385733" cy="457200"/>
            </a:xfrm>
            <a:prstGeom prst="roundRect">
              <a:avLst>
                <a:gd name="adj" fmla="val 30000"/>
              </a:avLst>
            </a:prstGeom>
            <a:solidFill>
              <a:srgbClr val="0284C7"/>
            </a:solidFill>
            <a:ln w="12700">
              <a:solidFill>
                <a:srgbClr val="0284C7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C86D5D48-98F7-B045-C14B-A5D705BE8D33}"/>
                </a:ext>
              </a:extLst>
            </p:cNvPr>
            <p:cNvSpPr/>
            <p:nvPr/>
          </p:nvSpPr>
          <p:spPr>
            <a:xfrm>
              <a:off x="5259493" y="3362665"/>
              <a:ext cx="4111413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Walk(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발전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A294624F-0309-2029-AEFD-8000A1FB8F6A}"/>
                </a:ext>
              </a:extLst>
            </p:cNvPr>
            <p:cNvSpPr/>
            <p:nvPr/>
          </p:nvSpPr>
          <p:spPr>
            <a:xfrm>
              <a:off x="5259493" y="3819865"/>
              <a:ext cx="4111413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최적화 실행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9823A619-3942-8876-83D0-B1C04E6D1F25}"/>
                </a:ext>
              </a:extLst>
            </p:cNvPr>
            <p:cNvSpPr/>
            <p:nvPr/>
          </p:nvSpPr>
          <p:spPr>
            <a:xfrm>
              <a:off x="5232061" y="4249633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자동화된 비용 분석 도입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D10E736E-2DB4-7F6F-414A-21CBD97285AA}"/>
                </a:ext>
              </a:extLst>
            </p:cNvPr>
            <p:cNvSpPr/>
            <p:nvPr/>
          </p:nvSpPr>
          <p:spPr>
            <a:xfrm>
              <a:off x="5232061" y="4542241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Right-sizing 시행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0AC0D812-599A-D777-0DDD-F85C72EE95A0}"/>
                </a:ext>
              </a:extLst>
            </p:cNvPr>
            <p:cNvSpPr/>
            <p:nvPr/>
          </p:nvSpPr>
          <p:spPr>
            <a:xfrm>
              <a:off x="5232061" y="4834849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RI/Savings Plans 구매 </a:t>
              </a:r>
              <a:r>
                <a:rPr 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전략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수립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및 실행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07AC41CA-BD0A-F1EB-7A76-DE322835A8B5}"/>
                </a:ext>
              </a:extLst>
            </p:cNvPr>
            <p:cNvSpPr/>
            <p:nvPr/>
          </p:nvSpPr>
          <p:spPr>
            <a:xfrm>
              <a:off x="5232061" y="5127457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단위 경제(Unit Economics) 메트릭 도입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1597C0EF-3EF3-7F1F-4CCC-9584457626A6}"/>
                </a:ext>
              </a:extLst>
            </p:cNvPr>
            <p:cNvSpPr/>
            <p:nvPr/>
          </p:nvSpPr>
          <p:spPr>
            <a:xfrm>
              <a:off x="5232061" y="5420065"/>
              <a:ext cx="416627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팀별 비용 책임 체계 운영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7E7F306-6EFE-0A57-EC4B-59D5D029D6E0}"/>
              </a:ext>
            </a:extLst>
          </p:cNvPr>
          <p:cNvGrpSpPr/>
          <p:nvPr/>
        </p:nvGrpSpPr>
        <p:grpSpPr>
          <a:xfrm>
            <a:off x="7159903" y="6935308"/>
            <a:ext cx="6962497" cy="692080"/>
            <a:chOff x="508000" y="6712988"/>
            <a:chExt cx="13614400" cy="914400"/>
          </a:xfrm>
        </p:grpSpPr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359DE70A-C5BD-C12A-1D68-16DF7203B684}"/>
                </a:ext>
              </a:extLst>
            </p:cNvPr>
            <p:cNvSpPr/>
            <p:nvPr/>
          </p:nvSpPr>
          <p:spPr>
            <a:xfrm>
              <a:off x="508000" y="6712988"/>
              <a:ext cx="13614400" cy="914400"/>
            </a:xfrm>
            <a:prstGeom prst="roundRect">
              <a:avLst>
                <a:gd name="adj" fmla="val 10000"/>
              </a:avLst>
            </a:prstGeom>
            <a:solidFill>
              <a:srgbClr val="CCFBF1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5" name="Text 32">
              <a:extLst>
                <a:ext uri="{FF2B5EF4-FFF2-40B4-BE49-F238E27FC236}">
                  <a16:creationId xmlns:a16="http://schemas.microsoft.com/office/drawing/2014/main" id="{9BA0229B-4494-0A32-F546-E57C313B243E}"/>
                </a:ext>
              </a:extLst>
            </p:cNvPr>
            <p:cNvSpPr/>
            <p:nvPr/>
          </p:nvSpPr>
          <p:spPr>
            <a:xfrm>
              <a:off x="690880" y="6804428"/>
              <a:ext cx="13248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2025년 프레임워크 업데이트: 성숙도를 전사 단일 점수가 </a:t>
              </a:r>
              <a:r>
                <a:rPr lang="en-US" sz="1400" dirty="0" err="1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아닌</a:t>
              </a:r>
              <a:r>
                <a:rPr lang="en-US" sz="14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br>
                <a:rPr lang="en-US" sz="14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sz="1400" dirty="0" err="1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Ownership별·Capability별로</a:t>
              </a:r>
              <a:r>
                <a:rPr lang="en-US" sz="1400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측정하도록 변경 → 팀별 3~6개월 주기로 재평가 권장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72B2B098-B6BF-7D48-1671-5CDF4DBBB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546" y="1582009"/>
            <a:ext cx="4500979" cy="2945833"/>
          </a:xfrm>
          <a:prstGeom prst="rect">
            <a:avLst/>
          </a:prstGeom>
        </p:spPr>
      </p:pic>
      <p:sp>
        <p:nvSpPr>
          <p:cNvPr id="42" name="Shape 3">
            <a:extLst>
              <a:ext uri="{FF2B5EF4-FFF2-40B4-BE49-F238E27FC236}">
                <a16:creationId xmlns:a16="http://schemas.microsoft.com/office/drawing/2014/main" id="{4934393C-7F74-ABA1-D534-1083DF634CB0}"/>
              </a:ext>
            </a:extLst>
          </p:cNvPr>
          <p:cNvSpPr/>
          <p:nvPr/>
        </p:nvSpPr>
        <p:spPr>
          <a:xfrm>
            <a:off x="508000" y="4732024"/>
            <a:ext cx="228600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 sz="16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D77361C-6DB4-DAB9-BD98-8F2811F847A8}"/>
              </a:ext>
            </a:extLst>
          </p:cNvPr>
          <p:cNvSpPr/>
          <p:nvPr/>
        </p:nvSpPr>
        <p:spPr>
          <a:xfrm>
            <a:off x="508000" y="4732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한국 기업 도입 사례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A5FE04-EBC5-CB97-E420-44BDF0591CC5}"/>
              </a:ext>
            </a:extLst>
          </p:cNvPr>
          <p:cNvGrpSpPr/>
          <p:nvPr/>
        </p:nvGrpSpPr>
        <p:grpSpPr>
          <a:xfrm>
            <a:off x="507999" y="5189223"/>
            <a:ext cx="6204689" cy="1597187"/>
            <a:chOff x="508000" y="5189223"/>
            <a:chExt cx="6217920" cy="1597187"/>
          </a:xfrm>
        </p:grpSpPr>
        <p:sp>
          <p:nvSpPr>
            <p:cNvPr id="44" name="Shape 5">
              <a:extLst>
                <a:ext uri="{FF2B5EF4-FFF2-40B4-BE49-F238E27FC236}">
                  <a16:creationId xmlns:a16="http://schemas.microsoft.com/office/drawing/2014/main" id="{71150C3F-C5C7-7FCB-4039-FAAB45A3D591}"/>
                </a:ext>
              </a:extLst>
            </p:cNvPr>
            <p:cNvSpPr/>
            <p:nvPr/>
          </p:nvSpPr>
          <p:spPr>
            <a:xfrm>
              <a:off x="508000" y="5189223"/>
              <a:ext cx="6217920" cy="1597187"/>
            </a:xfrm>
            <a:prstGeom prst="roundRect">
              <a:avLst>
                <a:gd name="adj" fmla="val 5517"/>
              </a:avLst>
            </a:prstGeom>
            <a:solidFill>
              <a:srgbClr val="F5F5F7"/>
            </a:solidFill>
            <a:ln w="9525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6952FF0F-E703-BC1A-F66B-638F8C6D3FAC}"/>
                </a:ext>
              </a:extLst>
            </p:cNvPr>
            <p:cNvGrpSpPr/>
            <p:nvPr/>
          </p:nvGrpSpPr>
          <p:grpSpPr>
            <a:xfrm>
              <a:off x="645160" y="5298952"/>
              <a:ext cx="2926080" cy="292608"/>
              <a:chOff x="645566" y="1618488"/>
              <a:chExt cx="2926080" cy="292608"/>
            </a:xfrm>
            <a:noFill/>
          </p:grpSpPr>
          <p:sp>
            <p:nvSpPr>
              <p:cNvPr id="46" name="Shape 6">
                <a:extLst>
                  <a:ext uri="{FF2B5EF4-FFF2-40B4-BE49-F238E27FC236}">
                    <a16:creationId xmlns:a16="http://schemas.microsoft.com/office/drawing/2014/main" id="{B052D405-93E3-2C7D-A573-FF642E8539CB}"/>
                  </a:ext>
                </a:extLst>
              </p:cNvPr>
              <p:cNvSpPr/>
              <p:nvPr/>
            </p:nvSpPr>
            <p:spPr>
              <a:xfrm>
                <a:off x="645566" y="1618488"/>
                <a:ext cx="2926080" cy="292608"/>
              </a:xfrm>
              <a:prstGeom prst="roundRect">
                <a:avLst>
                  <a:gd name="adj" fmla="val 18750"/>
                </a:avLst>
              </a:prstGeom>
              <a:grpFill/>
              <a:ln/>
            </p:spPr>
            <p:txBody>
              <a:bodyPr/>
              <a:lstStyle/>
              <a:p>
                <a:endParaRPr lang="ko-KR" altLang="en-US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  <p:sp>
            <p:nvSpPr>
              <p:cNvPr id="47" name="Text 7">
                <a:extLst>
                  <a:ext uri="{FF2B5EF4-FFF2-40B4-BE49-F238E27FC236}">
                    <a16:creationId xmlns:a16="http://schemas.microsoft.com/office/drawing/2014/main" id="{A263D71D-B43B-8778-6C9B-761A232E8B47}"/>
                  </a:ext>
                </a:extLst>
              </p:cNvPr>
              <p:cNvSpPr/>
              <p:nvPr/>
            </p:nvSpPr>
            <p:spPr>
              <a:xfrm>
                <a:off x="645566" y="1618488"/>
                <a:ext cx="2926080" cy="292608"/>
              </a:xfrm>
              <a:prstGeom prst="rect">
                <a:avLst/>
              </a:prstGeom>
              <a:grp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우아한형제들 (배달의민족)</a:t>
                </a:r>
                <a:endParaRPr lang="en-US" sz="1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p:grpSp>
        <p:sp>
          <p:nvSpPr>
            <p:cNvPr id="48" name="Text 8">
              <a:extLst>
                <a:ext uri="{FF2B5EF4-FFF2-40B4-BE49-F238E27FC236}">
                  <a16:creationId xmlns:a16="http://schemas.microsoft.com/office/drawing/2014/main" id="{4D91381D-C3F4-E269-8269-67041EFB38CC}"/>
                </a:ext>
              </a:extLst>
            </p:cNvPr>
            <p:cNvSpPr/>
            <p:nvPr/>
          </p:nvSpPr>
          <p:spPr>
            <a:xfrm>
              <a:off x="645160" y="5664712"/>
              <a:ext cx="59436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FinOps를 단순 비용 절감이 아닌 비즈니스 가치 극대화 전략으로 실천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단위 경제(트래픽 1건 처리 비용) 기반 성과 측정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marL="0" indent="0">
                <a:lnSpc>
                  <a:spcPct val="115000"/>
                </a:lnSpc>
                <a:buNone/>
              </a:pPr>
              <a:r>
                <a:rPr 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국내 FinOps 선도 사례로 기술 블로그를 통해 경험 공유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4" name="Text 8">
              <a:hlinkClick r:id="rId4"/>
              <a:extLst>
                <a:ext uri="{FF2B5EF4-FFF2-40B4-BE49-F238E27FC236}">
                  <a16:creationId xmlns:a16="http://schemas.microsoft.com/office/drawing/2014/main" id="{5988ABB4-D51C-D623-8FCE-7C9FB255C245}"/>
                </a:ext>
              </a:extLst>
            </p:cNvPr>
            <p:cNvSpPr/>
            <p:nvPr/>
          </p:nvSpPr>
          <p:spPr>
            <a:xfrm>
              <a:off x="758049" y="6392056"/>
              <a:ext cx="5831871" cy="232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ko-KR" altLang="en-US" sz="1200" dirty="0">
                  <a:solidFill>
                    <a:srgbClr val="50506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hlinkClick r:id="rId4"/>
                </a:rPr>
                <a:t>우아한 형제 도입 사례 보기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02E2943-AFC2-FE86-1BEC-40F708E44CFB}"/>
              </a:ext>
            </a:extLst>
          </p:cNvPr>
          <p:cNvGrpSpPr/>
          <p:nvPr/>
        </p:nvGrpSpPr>
        <p:grpSpPr>
          <a:xfrm>
            <a:off x="507999" y="6935308"/>
            <a:ext cx="6203289" cy="692080"/>
            <a:chOff x="504927" y="6712988"/>
            <a:chExt cx="13614400" cy="914400"/>
          </a:xfrm>
        </p:grpSpPr>
        <p:sp>
          <p:nvSpPr>
            <p:cNvPr id="60" name="Shape 31">
              <a:extLst>
                <a:ext uri="{FF2B5EF4-FFF2-40B4-BE49-F238E27FC236}">
                  <a16:creationId xmlns:a16="http://schemas.microsoft.com/office/drawing/2014/main" id="{368DCB03-5864-7C32-1F77-4BFF6C18130D}"/>
                </a:ext>
              </a:extLst>
            </p:cNvPr>
            <p:cNvSpPr/>
            <p:nvPr/>
          </p:nvSpPr>
          <p:spPr>
            <a:xfrm>
              <a:off x="504927" y="6712988"/>
              <a:ext cx="13614400" cy="914400"/>
            </a:xfrm>
            <a:prstGeom prst="roundRect">
              <a:avLst>
                <a:gd name="adj" fmla="val 10000"/>
              </a:avLst>
            </a:prstGeom>
            <a:solidFill>
              <a:srgbClr val="CCFBF1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1" name="Text 32">
              <a:extLst>
                <a:ext uri="{FF2B5EF4-FFF2-40B4-BE49-F238E27FC236}">
                  <a16:creationId xmlns:a16="http://schemas.microsoft.com/office/drawing/2014/main" id="{856697A7-FD2A-85CF-11B9-E70FBBF349EC}"/>
                </a:ext>
              </a:extLst>
            </p:cNvPr>
            <p:cNvSpPr/>
            <p:nvPr/>
          </p:nvSpPr>
          <p:spPr>
            <a:xfrm>
              <a:off x="690880" y="6804428"/>
              <a:ext cx="13248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>
                <a:lnSpc>
                  <a:spcPct val="110000"/>
                </a:lnSpc>
              </a:pPr>
              <a:r>
                <a:rPr lang="en-US" altLang="ko-KR" sz="1200" b="1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※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대부분은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Crawl~Walk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수준이며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Run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도달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기업은</a:t>
              </a: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소수</a:t>
              </a:r>
              <a:endParaRPr lang="en-US" altLang="ko-KR" sz="1200" dirty="0">
                <a:solidFill>
                  <a:srgbClr val="6B6B7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200" dirty="0">
                  <a:solidFill>
                    <a:srgbClr val="6B6B7B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※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국내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CSP+글로벌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CSP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조합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구조로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멀티클라우드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비용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통합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관리</a:t>
              </a:r>
              <a:r>
                <a:rPr lang="ko-KR" altLang="en-US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복잡도가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높은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것이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b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</a:b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 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한국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시장</a:t>
              </a:r>
              <a:r>
                <a:rPr lang="en-US" altLang="ko-KR" sz="1200" dirty="0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1200" dirty="0" err="1">
                  <a:solidFill>
                    <a:srgbClr val="0D948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특징</a:t>
              </a:r>
              <a:endPara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06D31ED-97D2-799E-1966-88212091E3F4}"/>
              </a:ext>
            </a:extLst>
          </p:cNvPr>
          <p:cNvGrpSpPr/>
          <p:nvPr/>
        </p:nvGrpSpPr>
        <p:grpSpPr>
          <a:xfrm>
            <a:off x="7159905" y="4134650"/>
            <a:ext cx="6962496" cy="2651760"/>
            <a:chOff x="7159905" y="4134650"/>
            <a:chExt cx="6962496" cy="2651760"/>
          </a:xfrm>
        </p:grpSpPr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667C7E4B-FB0D-14E7-0F9F-115AB00718B0}"/>
                </a:ext>
              </a:extLst>
            </p:cNvPr>
            <p:cNvSpPr/>
            <p:nvPr/>
          </p:nvSpPr>
          <p:spPr>
            <a:xfrm>
              <a:off x="7159905" y="4134650"/>
              <a:ext cx="6962496" cy="2651760"/>
            </a:xfrm>
            <a:prstGeom prst="roundRect">
              <a:avLst>
                <a:gd name="adj" fmla="val 517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80FACA45-6879-E715-0EB0-D25BD0C1B128}"/>
                </a:ext>
              </a:extLst>
            </p:cNvPr>
            <p:cNvSpPr/>
            <p:nvPr/>
          </p:nvSpPr>
          <p:spPr>
            <a:xfrm>
              <a:off x="7159905" y="4134650"/>
              <a:ext cx="6962496" cy="457200"/>
            </a:xfrm>
            <a:prstGeom prst="roundRect">
              <a:avLst>
                <a:gd name="adj" fmla="val 30000"/>
              </a:avLst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3D67D33B-509F-A2E1-3C22-46910837AFD5}"/>
                </a:ext>
              </a:extLst>
            </p:cNvPr>
            <p:cNvSpPr/>
            <p:nvPr/>
          </p:nvSpPr>
          <p:spPr>
            <a:xfrm>
              <a:off x="7377651" y="4207802"/>
              <a:ext cx="6527004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Run(</a:t>
              </a:r>
              <a:r>
                <a:rPr lang="ko-KR" altLang="en-US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고도화</a:t>
              </a:r>
              <a:r>
                <a:rPr lang="en-US" altLang="ko-KR" sz="1600" b="1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24799954-0FCF-8D86-CD07-2790CEEB8939}"/>
                </a:ext>
              </a:extLst>
            </p:cNvPr>
            <p:cNvSpPr/>
            <p:nvPr/>
          </p:nvSpPr>
          <p:spPr>
            <a:xfrm>
              <a:off x="7377651" y="4665002"/>
              <a:ext cx="6527004" cy="34747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C2926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자율 운영</a:t>
              </a:r>
              <a:endParaRPr 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5FB377C5-6BC7-C0F3-6138-04851687EBF0}"/>
                </a:ext>
              </a:extLst>
            </p:cNvPr>
            <p:cNvSpPr/>
            <p:nvPr/>
          </p:nvSpPr>
          <p:spPr>
            <a:xfrm>
              <a:off x="7334102" y="5208183"/>
              <a:ext cx="3214535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실시간 비용 거버넌스 체계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" name="Text 25">
              <a:extLst>
                <a:ext uri="{FF2B5EF4-FFF2-40B4-BE49-F238E27FC236}">
                  <a16:creationId xmlns:a16="http://schemas.microsoft.com/office/drawing/2014/main" id="{D0A0D44E-034E-AFE8-28AB-1AAB2E18B7D5}"/>
                </a:ext>
              </a:extLst>
            </p:cNvPr>
            <p:cNvSpPr/>
            <p:nvPr/>
          </p:nvSpPr>
          <p:spPr>
            <a:xfrm>
              <a:off x="7334102" y="5500791"/>
              <a:ext cx="3214535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예측 기반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의사결정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99A864F6-C72D-7F91-DB59-33C8B79D6482}"/>
                </a:ext>
              </a:extLst>
            </p:cNvPr>
            <p:cNvSpPr/>
            <p:nvPr/>
          </p:nvSpPr>
          <p:spPr>
            <a:xfrm>
              <a:off x="7334102" y="5793399"/>
              <a:ext cx="3214535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엔지니어 </a:t>
              </a:r>
              <a:r>
                <a:rPr 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셀프서비스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비용 관리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C310E87B-AD9B-9BB8-C64B-59C94F5BF1F1}"/>
                </a:ext>
              </a:extLst>
            </p:cNvPr>
            <p:cNvSpPr/>
            <p:nvPr/>
          </p:nvSpPr>
          <p:spPr>
            <a:xfrm>
              <a:off x="7334102" y="6086007"/>
              <a:ext cx="3214535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자동화된 최적화 파이프라인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1" name="Text 28">
              <a:extLst>
                <a:ext uri="{FF2B5EF4-FFF2-40B4-BE49-F238E27FC236}">
                  <a16:creationId xmlns:a16="http://schemas.microsoft.com/office/drawing/2014/main" id="{0F4465E9-CF17-AA8D-7209-83F77BB7699D}"/>
                </a:ext>
              </a:extLst>
            </p:cNvPr>
            <p:cNvSpPr/>
            <p:nvPr/>
          </p:nvSpPr>
          <p:spPr>
            <a:xfrm>
              <a:off x="10555232" y="6067719"/>
              <a:ext cx="338213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FinOps </a:t>
              </a:r>
              <a:r>
                <a:rPr lang="ko-KR" alt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문화 내재화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Text 24">
              <a:extLst>
                <a:ext uri="{FF2B5EF4-FFF2-40B4-BE49-F238E27FC236}">
                  <a16:creationId xmlns:a16="http://schemas.microsoft.com/office/drawing/2014/main" id="{EFA65BF8-F814-08BB-0CFE-632504B46C66}"/>
                </a:ext>
              </a:extLst>
            </p:cNvPr>
            <p:cNvSpPr/>
            <p:nvPr/>
          </p:nvSpPr>
          <p:spPr>
            <a:xfrm>
              <a:off x="10548637" y="5206272"/>
              <a:ext cx="338213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en-US" altLang="ko-KR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Biz </a:t>
              </a:r>
              <a:r>
                <a:rPr lang="ko-KR" alt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의사결정 연계</a:t>
              </a:r>
              <a:r>
                <a:rPr lang="en-US" altLang="ko-KR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경영진 의사결정의 중요 근거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3" name="Text 25">
              <a:extLst>
                <a:ext uri="{FF2B5EF4-FFF2-40B4-BE49-F238E27FC236}">
                  <a16:creationId xmlns:a16="http://schemas.microsoft.com/office/drawing/2014/main" id="{6EC14EA1-C13E-37BC-DDB3-E6AFD9930035}"/>
                </a:ext>
              </a:extLst>
            </p:cNvPr>
            <p:cNvSpPr/>
            <p:nvPr/>
          </p:nvSpPr>
          <p:spPr>
            <a:xfrm>
              <a:off x="10548637" y="5498880"/>
              <a:ext cx="338213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</a:t>
              </a:r>
              <a:r>
                <a:rPr 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FOCUS</a:t>
              </a: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기반 </a:t>
              </a:r>
              <a:r>
                <a:rPr lang="ko-KR" altLang="en-US" sz="1200" dirty="0" err="1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멀티클라우드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데이터 통합</a:t>
              </a:r>
              <a:endPara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4" name="Text 26">
              <a:extLst>
                <a:ext uri="{FF2B5EF4-FFF2-40B4-BE49-F238E27FC236}">
                  <a16:creationId xmlns:a16="http://schemas.microsoft.com/office/drawing/2014/main" id="{A9F35227-22CF-B680-0F81-9D4B02409431}"/>
                </a:ext>
              </a:extLst>
            </p:cNvPr>
            <p:cNvSpPr/>
            <p:nvPr/>
          </p:nvSpPr>
          <p:spPr>
            <a:xfrm>
              <a:off x="10548637" y="5791488"/>
              <a:ext cx="3382137" cy="2926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• AI/SaaS </a:t>
              </a:r>
              <a:r>
                <a:rPr lang="ko-KR" altLang="en-US" sz="1200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등 </a:t>
              </a:r>
              <a:r>
                <a:rPr lang="en-US" altLang="ko-KR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Cloud+ Scope </a:t>
              </a:r>
              <a:r>
                <a:rPr lang="ko-KR" altLang="en-US" sz="1400" b="1" dirty="0">
                  <a:solidFill>
                    <a:srgbClr val="59636E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확장</a:t>
              </a:r>
              <a:endParaRPr 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0623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6C41-4505-B1EA-8A50-8A91A8839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E435E7F0-3A2C-73C3-A478-372FF727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28899"/>
          </a:xfrm>
        </p:spPr>
        <p:txBody>
          <a:bodyPr wrap="square" lIns="0" tIns="180000" rIns="0" bIns="180000">
            <a:spAutoFit/>
          </a:bodyPr>
          <a:lstStyle/>
          <a:p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별첨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FinOps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성숙도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변화</a:t>
            </a:r>
            <a:endParaRPr lang="en-US" altLang="ko-KR" sz="3200" dirty="0">
              <a:solidFill>
                <a:srgbClr val="2C2926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7" name="Google Shape;91;p13">
            <a:extLst>
              <a:ext uri="{FF2B5EF4-FFF2-40B4-BE49-F238E27FC236}">
                <a16:creationId xmlns:a16="http://schemas.microsoft.com/office/drawing/2014/main" id="{D164062A-D29D-247D-AE25-0E5A015BC69B}"/>
              </a:ext>
            </a:extLst>
          </p:cNvPr>
          <p:cNvSpPr txBox="1"/>
          <p:nvPr/>
        </p:nvSpPr>
        <p:spPr>
          <a:xfrm>
            <a:off x="571500" y="1114425"/>
            <a:ext cx="11049000" cy="23083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defPPr>
              <a:defRPr lang="ko-KR"/>
            </a:defPPr>
            <a:lvl1pPr indent="0">
              <a:buNone/>
              <a:defRPr sz="2000" b="1">
                <a:solidFill>
                  <a:srgbClr val="2C292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en-US" dirty="0" err="1">
                <a:sym typeface="Noto Sans KR"/>
              </a:rPr>
              <a:t>단일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점수</a:t>
            </a:r>
            <a:r>
              <a:rPr lang="en-US" dirty="0">
                <a:sym typeface="Noto Sans KR"/>
              </a:rPr>
              <a:t>(Single Score) </a:t>
            </a:r>
            <a:r>
              <a:rPr lang="en-US" dirty="0" err="1">
                <a:sym typeface="Noto Sans KR"/>
              </a:rPr>
              <a:t>모델에서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다차원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입체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진단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모델로의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패러다임</a:t>
            </a:r>
            <a:r>
              <a:rPr lang="en-US" dirty="0">
                <a:sym typeface="Noto Sans KR"/>
              </a:rPr>
              <a:t> </a:t>
            </a:r>
            <a:r>
              <a:rPr lang="en-US" dirty="0" err="1">
                <a:sym typeface="Noto Sans KR"/>
              </a:rPr>
              <a:t>전환</a:t>
            </a:r>
            <a:endParaRPr dirty="0">
              <a:sym typeface="Arial"/>
            </a:endParaRPr>
          </a:p>
        </p:txBody>
      </p:sp>
      <p:pic>
        <p:nvPicPr>
          <p:cNvPr id="42" name="Google Shape;84;p13" descr="image.png">
            <a:extLst>
              <a:ext uri="{FF2B5EF4-FFF2-40B4-BE49-F238E27FC236}">
                <a16:creationId xmlns:a16="http://schemas.microsoft.com/office/drawing/2014/main" id="{F74097E7-1D2F-AA85-A3CB-80136C26AB6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567" y="1590592"/>
            <a:ext cx="13555145" cy="152334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93;p13">
            <a:extLst>
              <a:ext uri="{FF2B5EF4-FFF2-40B4-BE49-F238E27FC236}">
                <a16:creationId xmlns:a16="http://schemas.microsoft.com/office/drawing/2014/main" id="{27EE4074-8A28-1169-855B-C2D9E1BFA525}"/>
              </a:ext>
            </a:extLst>
          </p:cNvPr>
          <p:cNvSpPr txBox="1"/>
          <p:nvPr/>
        </p:nvSpPr>
        <p:spPr>
          <a:xfrm>
            <a:off x="988671" y="1824098"/>
            <a:ext cx="421608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sz="1200" b="1" kern="0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과거</a:t>
            </a:r>
            <a:r>
              <a:rPr lang="en-US" sz="1200" b="1" kern="0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(AS-IS)</a:t>
            </a:r>
            <a:endParaRPr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0" name="Google Shape;94;p13">
            <a:extLst>
              <a:ext uri="{FF2B5EF4-FFF2-40B4-BE49-F238E27FC236}">
                <a16:creationId xmlns:a16="http://schemas.microsoft.com/office/drawing/2014/main" id="{696BE4A9-9465-C143-F6F2-59D0DC93598A}"/>
              </a:ext>
            </a:extLst>
          </p:cNvPr>
          <p:cNvSpPr txBox="1"/>
          <p:nvPr/>
        </p:nvSpPr>
        <p:spPr>
          <a:xfrm>
            <a:off x="1105525" y="2189727"/>
            <a:ext cx="42160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전사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단일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점수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측정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(</a:t>
            </a: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평균의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kern="0" dirty="0" err="1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함정</a:t>
            </a:r>
            <a:r>
              <a:rPr lang="en-US" kern="0" dirty="0">
                <a:solidFill>
                  <a:srgbClr val="64748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)</a:t>
            </a:r>
            <a:endParaRPr sz="1400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51" name="Google Shape;95;p13" descr="image.png">
            <a:extLst>
              <a:ext uri="{FF2B5EF4-FFF2-40B4-BE49-F238E27FC236}">
                <a16:creationId xmlns:a16="http://schemas.microsoft.com/office/drawing/2014/main" id="{A73723EC-D0D1-6814-7D6A-C7C6BA9ECC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55316" y="2218834"/>
            <a:ext cx="327193" cy="31134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96;p13">
            <a:extLst>
              <a:ext uri="{FF2B5EF4-FFF2-40B4-BE49-F238E27FC236}">
                <a16:creationId xmlns:a16="http://schemas.microsoft.com/office/drawing/2014/main" id="{98250098-F553-24ED-56B6-4860B2716149}"/>
              </a:ext>
            </a:extLst>
          </p:cNvPr>
          <p:cNvSpPr txBox="1"/>
          <p:nvPr/>
        </p:nvSpPr>
        <p:spPr>
          <a:xfrm>
            <a:off x="9011934" y="1794551"/>
            <a:ext cx="24655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sz="1200" b="1" kern="0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2025년 </a:t>
            </a:r>
            <a:r>
              <a:rPr lang="en-US" sz="1200" b="1" kern="0" dirty="0" err="1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업데이트</a:t>
            </a:r>
            <a:r>
              <a:rPr lang="en-US" sz="1200" b="1" kern="0" dirty="0">
                <a:solidFill>
                  <a:srgbClr val="94A3B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(TO-BE)</a:t>
            </a:r>
            <a:endParaRPr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sp>
        <p:nvSpPr>
          <p:cNvPr id="53" name="Google Shape;97;p13">
            <a:extLst>
              <a:ext uri="{FF2B5EF4-FFF2-40B4-BE49-F238E27FC236}">
                <a16:creationId xmlns:a16="http://schemas.microsoft.com/office/drawing/2014/main" id="{AA628B4F-36F5-53AF-169A-33AC6ADB0821}"/>
              </a:ext>
            </a:extLst>
          </p:cNvPr>
          <p:cNvSpPr txBox="1"/>
          <p:nvPr/>
        </p:nvSpPr>
        <p:spPr>
          <a:xfrm>
            <a:off x="6390827" y="2197476"/>
            <a:ext cx="42160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Ownership &amp; Capability </a:t>
            </a:r>
            <a:r>
              <a:rPr lang="en-US" b="1" kern="0" dirty="0" err="1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기반</a:t>
            </a:r>
            <a:r>
              <a:rPr lang="en-US" b="1" kern="0" dirty="0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b="1" kern="0" dirty="0" err="1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입체</a:t>
            </a:r>
            <a:r>
              <a:rPr lang="en-US" b="1" kern="0" dirty="0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 </a:t>
            </a:r>
            <a:r>
              <a:rPr lang="en-US" b="1" kern="0" dirty="0" err="1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진단</a:t>
            </a:r>
            <a:endParaRPr sz="1400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54" name="Google Shape;98;p13" descr="image.png">
            <a:extLst>
              <a:ext uri="{FF2B5EF4-FFF2-40B4-BE49-F238E27FC236}">
                <a16:creationId xmlns:a16="http://schemas.microsoft.com/office/drawing/2014/main" id="{80CEAA3D-560B-DB7D-1055-C3A8FBE2997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99718" y="2218834"/>
            <a:ext cx="327193" cy="31134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100;p13">
            <a:extLst>
              <a:ext uri="{FF2B5EF4-FFF2-40B4-BE49-F238E27FC236}">
                <a16:creationId xmlns:a16="http://schemas.microsoft.com/office/drawing/2014/main" id="{77926905-FCF3-12CC-6D7A-3AA8C1A3D78A}"/>
              </a:ext>
            </a:extLst>
          </p:cNvPr>
          <p:cNvSpPr txBox="1"/>
          <p:nvPr/>
        </p:nvSpPr>
        <p:spPr>
          <a:xfrm>
            <a:off x="11574427" y="2218834"/>
            <a:ext cx="21081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latinLnBrk="0"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3~6개월 </a:t>
            </a:r>
            <a:r>
              <a:rPr lang="ko-KR" altLang="en-US" b="1" kern="0" dirty="0">
                <a:solidFill>
                  <a:srgbClr val="1D4E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Noto Sans KR"/>
              </a:rPr>
              <a:t>주기 평가</a:t>
            </a:r>
            <a:endParaRPr sz="1400" kern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Arial"/>
            </a:endParaRPr>
          </a:p>
        </p:txBody>
      </p:sp>
      <p:pic>
        <p:nvPicPr>
          <p:cNvPr id="57" name="Google Shape;101;p13" descr="image.png">
            <a:extLst>
              <a:ext uri="{FF2B5EF4-FFF2-40B4-BE49-F238E27FC236}">
                <a16:creationId xmlns:a16="http://schemas.microsoft.com/office/drawing/2014/main" id="{5CCE86FB-7B14-8FBE-0619-ECF037D416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8671" y="2179917"/>
            <a:ext cx="315508" cy="266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102;p13" descr="image.png">
            <a:extLst>
              <a:ext uri="{FF2B5EF4-FFF2-40B4-BE49-F238E27FC236}">
                <a16:creationId xmlns:a16="http://schemas.microsoft.com/office/drawing/2014/main" id="{247A0165-D9B9-2252-689D-CC7A841E1AA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3073" y="2179917"/>
            <a:ext cx="315508" cy="266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103;p13" descr="image.png">
            <a:extLst>
              <a:ext uri="{FF2B5EF4-FFF2-40B4-BE49-F238E27FC236}">
                <a16:creationId xmlns:a16="http://schemas.microsoft.com/office/drawing/2014/main" id="{F77B87A4-0932-6DCB-0AC3-D6DC02EAE01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77475" y="2203786"/>
            <a:ext cx="280451" cy="2668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DE26F9C-66A5-3254-492A-D11F37965A77}"/>
              </a:ext>
            </a:extLst>
          </p:cNvPr>
          <p:cNvGrpSpPr/>
          <p:nvPr/>
        </p:nvGrpSpPr>
        <p:grpSpPr>
          <a:xfrm>
            <a:off x="509566" y="3424844"/>
            <a:ext cx="6549911" cy="3214163"/>
            <a:chOff x="509566" y="3424844"/>
            <a:chExt cx="6549911" cy="3214163"/>
          </a:xfrm>
        </p:grpSpPr>
        <p:sp>
          <p:nvSpPr>
            <p:cNvPr id="83" name="Shape 2">
              <a:extLst>
                <a:ext uri="{FF2B5EF4-FFF2-40B4-BE49-F238E27FC236}">
                  <a16:creationId xmlns:a16="http://schemas.microsoft.com/office/drawing/2014/main" id="{FFE27379-F836-3215-57EB-05087FA5A65B}"/>
                </a:ext>
              </a:extLst>
            </p:cNvPr>
            <p:cNvSpPr/>
            <p:nvPr/>
          </p:nvSpPr>
          <p:spPr>
            <a:xfrm>
              <a:off x="509566" y="3424844"/>
              <a:ext cx="6549911" cy="3214163"/>
            </a:xfrm>
            <a:prstGeom prst="roundRect">
              <a:avLst>
                <a:gd name="adj" fmla="val 517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4" name="Shape 3">
              <a:extLst>
                <a:ext uri="{FF2B5EF4-FFF2-40B4-BE49-F238E27FC236}">
                  <a16:creationId xmlns:a16="http://schemas.microsoft.com/office/drawing/2014/main" id="{F56842DC-FB8E-CDD8-A7A4-F478C946DC2F}"/>
                </a:ext>
              </a:extLst>
            </p:cNvPr>
            <p:cNvSpPr/>
            <p:nvPr/>
          </p:nvSpPr>
          <p:spPr>
            <a:xfrm>
              <a:off x="509566" y="3424845"/>
              <a:ext cx="6549911" cy="457200"/>
            </a:xfrm>
            <a:prstGeom prst="roundRect">
              <a:avLst>
                <a:gd name="adj" fmla="val 30000"/>
              </a:avLst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5" name="Text 4">
              <a:extLst>
                <a:ext uri="{FF2B5EF4-FFF2-40B4-BE49-F238E27FC236}">
                  <a16:creationId xmlns:a16="http://schemas.microsoft.com/office/drawing/2014/main" id="{40CC50C9-B4E1-5AAA-2C12-A3EDC05EB539}"/>
                </a:ext>
              </a:extLst>
            </p:cNvPr>
            <p:cNvSpPr/>
            <p:nvPr/>
          </p:nvSpPr>
          <p:spPr>
            <a:xfrm>
              <a:off x="714409" y="3497997"/>
              <a:ext cx="6140225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Ownership (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비용 할당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)</a:t>
              </a:r>
              <a:endPara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pic>
          <p:nvPicPr>
            <p:cNvPr id="102" name="Google Shape;109;p13" descr="image.png">
              <a:extLst>
                <a:ext uri="{FF2B5EF4-FFF2-40B4-BE49-F238E27FC236}">
                  <a16:creationId xmlns:a16="http://schemas.microsoft.com/office/drawing/2014/main" id="{F6AD957D-5009-80DD-F10B-6014B12FF1A5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57094" y="5338240"/>
              <a:ext cx="467419" cy="444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12;p13" descr="image.png">
              <a:extLst>
                <a:ext uri="{FF2B5EF4-FFF2-40B4-BE49-F238E27FC236}">
                  <a16:creationId xmlns:a16="http://schemas.microsoft.com/office/drawing/2014/main" id="{343CA08F-4B0C-888E-82FB-32E1FF7B9D4F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73948" y="4315262"/>
              <a:ext cx="233709" cy="200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13;p13">
              <a:extLst>
                <a:ext uri="{FF2B5EF4-FFF2-40B4-BE49-F238E27FC236}">
                  <a16:creationId xmlns:a16="http://schemas.microsoft.com/office/drawing/2014/main" id="{0D81F45C-1E5D-621C-7B4E-95E3A3FD2F47}"/>
                </a:ext>
              </a:extLst>
            </p:cNvPr>
            <p:cNvSpPr txBox="1"/>
            <p:nvPr/>
          </p:nvSpPr>
          <p:spPr>
            <a:xfrm>
              <a:off x="1411480" y="4294079"/>
              <a:ext cx="5423226" cy="21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buClr>
                  <a:srgbClr val="000000"/>
                </a:buClr>
                <a:buFont typeface="Arial"/>
                <a:buNone/>
              </a:pP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조직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및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환경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단위의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세분화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05" name="Google Shape;114;p13">
              <a:extLst>
                <a:ext uri="{FF2B5EF4-FFF2-40B4-BE49-F238E27FC236}">
                  <a16:creationId xmlns:a16="http://schemas.microsoft.com/office/drawing/2014/main" id="{8F01D758-5556-0866-BB24-947F89A6A788}"/>
                </a:ext>
              </a:extLst>
            </p:cNvPr>
            <p:cNvSpPr txBox="1"/>
            <p:nvPr/>
          </p:nvSpPr>
          <p:spPr>
            <a:xfrm>
              <a:off x="1411480" y="4537648"/>
              <a:ext cx="5164978" cy="5539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lnSpc>
                  <a:spcPct val="15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전체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회사가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아닌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실제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b="1" kern="0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운영</a:t>
              </a:r>
              <a:r>
                <a:rPr lang="en-US" sz="1200" b="1" kern="0" dirty="0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b="1" kern="0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주체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(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서비스팀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플랫폼팀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)나 </a:t>
              </a:r>
              <a:r>
                <a:rPr lang="en-US" sz="1200" b="1" kern="0" dirty="0" err="1">
                  <a:solidFill>
                    <a:srgbClr val="FF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환경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(Prod/Dev)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단위로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b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</a:b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측정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범위를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ko-KR" alt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세분화</a:t>
              </a:r>
              <a:endParaRPr sz="12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06" name="Google Shape;116;p13">
              <a:extLst>
                <a:ext uri="{FF2B5EF4-FFF2-40B4-BE49-F238E27FC236}">
                  <a16:creationId xmlns:a16="http://schemas.microsoft.com/office/drawing/2014/main" id="{7AC3D2CB-77AD-B7EA-8F88-2D0125D3395D}"/>
                </a:ext>
              </a:extLst>
            </p:cNvPr>
            <p:cNvSpPr txBox="1"/>
            <p:nvPr/>
          </p:nvSpPr>
          <p:spPr>
            <a:xfrm>
              <a:off x="1411480" y="5355125"/>
              <a:ext cx="5423226" cy="21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buClr>
                  <a:srgbClr val="000000"/>
                </a:buClr>
                <a:buFont typeface="Arial"/>
                <a:buNone/>
              </a:pP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현장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중심의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병목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구간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가시화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07" name="Google Shape;117;p13">
              <a:extLst>
                <a:ext uri="{FF2B5EF4-FFF2-40B4-BE49-F238E27FC236}">
                  <a16:creationId xmlns:a16="http://schemas.microsoft.com/office/drawing/2014/main" id="{F4CEA59D-3060-DFD1-1B13-9151ED1347A2}"/>
                </a:ext>
              </a:extLst>
            </p:cNvPr>
            <p:cNvSpPr txBox="1"/>
            <p:nvPr/>
          </p:nvSpPr>
          <p:spPr>
            <a:xfrm>
              <a:off x="1411480" y="5682940"/>
              <a:ext cx="51649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lnSpc>
                  <a:spcPct val="15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우수한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팀의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모범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사례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(Best Practice)를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발굴하고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역량이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부족한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팀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을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정확히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b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</a:b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찾아내어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집중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지원</a:t>
              </a:r>
              <a:r>
                <a:rPr lang="ko-KR" alt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할 수 있음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pic>
          <p:nvPicPr>
            <p:cNvPr id="109" name="Google Shape;109;p13" descr="image.png">
              <a:extLst>
                <a:ext uri="{FF2B5EF4-FFF2-40B4-BE49-F238E27FC236}">
                  <a16:creationId xmlns:a16="http://schemas.microsoft.com/office/drawing/2014/main" id="{141C5DF6-DDED-4EB4-F887-AC41195A9AE1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4894" y="5262650"/>
              <a:ext cx="467419" cy="444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5;p13" descr="image.png">
              <a:extLst>
                <a:ext uri="{FF2B5EF4-FFF2-40B4-BE49-F238E27FC236}">
                  <a16:creationId xmlns:a16="http://schemas.microsoft.com/office/drawing/2014/main" id="{4182906A-F3DD-CCD3-9759-EA421E8D9E74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93434" y="5384963"/>
              <a:ext cx="210338" cy="2001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70EADD9-99B4-5CF1-3A1A-C1C3C9A582A7}"/>
              </a:ext>
            </a:extLst>
          </p:cNvPr>
          <p:cNvGrpSpPr/>
          <p:nvPr/>
        </p:nvGrpSpPr>
        <p:grpSpPr>
          <a:xfrm>
            <a:off x="7514801" y="3424844"/>
            <a:ext cx="6549911" cy="3214162"/>
            <a:chOff x="7514801" y="3424845"/>
            <a:chExt cx="6549911" cy="3214162"/>
          </a:xfrm>
        </p:grpSpPr>
        <p:sp>
          <p:nvSpPr>
            <p:cNvPr id="93" name="Shape 2">
              <a:extLst>
                <a:ext uri="{FF2B5EF4-FFF2-40B4-BE49-F238E27FC236}">
                  <a16:creationId xmlns:a16="http://schemas.microsoft.com/office/drawing/2014/main" id="{ED1F618C-B486-5AFD-09AA-86998550B1E4}"/>
                </a:ext>
              </a:extLst>
            </p:cNvPr>
            <p:cNvSpPr/>
            <p:nvPr/>
          </p:nvSpPr>
          <p:spPr>
            <a:xfrm>
              <a:off x="7514801" y="3424845"/>
              <a:ext cx="6549911" cy="3214162"/>
            </a:xfrm>
            <a:prstGeom prst="roundRect">
              <a:avLst>
                <a:gd name="adj" fmla="val 5172"/>
              </a:avLst>
            </a:prstGeom>
            <a:solidFill>
              <a:srgbClr val="F5F5F7"/>
            </a:solidFill>
            <a:ln w="12700">
              <a:solidFill>
                <a:srgbClr val="DDDDE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4" name="Shape 3">
              <a:extLst>
                <a:ext uri="{FF2B5EF4-FFF2-40B4-BE49-F238E27FC236}">
                  <a16:creationId xmlns:a16="http://schemas.microsoft.com/office/drawing/2014/main" id="{A4FD714F-113C-959C-4088-D68AAEC2A159}"/>
                </a:ext>
              </a:extLst>
            </p:cNvPr>
            <p:cNvSpPr/>
            <p:nvPr/>
          </p:nvSpPr>
          <p:spPr>
            <a:xfrm>
              <a:off x="7514801" y="3424845"/>
              <a:ext cx="6549911" cy="554166"/>
            </a:xfrm>
            <a:prstGeom prst="roundRect">
              <a:avLst>
                <a:gd name="adj" fmla="val 30000"/>
              </a:avLst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5" name="Text 4">
              <a:extLst>
                <a:ext uri="{FF2B5EF4-FFF2-40B4-BE49-F238E27FC236}">
                  <a16:creationId xmlns:a16="http://schemas.microsoft.com/office/drawing/2014/main" id="{FF310C8C-6EA1-C378-455B-FD671F073F1A}"/>
                </a:ext>
              </a:extLst>
            </p:cNvPr>
            <p:cNvSpPr/>
            <p:nvPr/>
          </p:nvSpPr>
          <p:spPr>
            <a:xfrm>
              <a:off x="7719644" y="3513512"/>
              <a:ext cx="6140225" cy="38791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latinLnBrk="0">
                <a:buClr>
                  <a:srgbClr val="000000"/>
                </a:buClr>
                <a:buFont typeface="Arial"/>
                <a:buNone/>
              </a:pPr>
              <a:r>
                <a:rPr lang="en-US" altLang="ko-KR" sz="1600" b="1" kern="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Capability (</a:t>
              </a:r>
              <a:r>
                <a:rPr lang="ko-KR" altLang="en-US" sz="1600" b="1" kern="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핵심 역량</a:t>
              </a:r>
              <a:r>
                <a:rPr lang="en-US" altLang="ko-KR" sz="1600" b="1" kern="0" dirty="0">
                  <a:solidFill>
                    <a:srgbClr val="FFFFF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Poppins"/>
                </a:rPr>
                <a:t>)</a:t>
              </a:r>
              <a:endParaRPr lang="ko-KR" altLang="en-US" sz="16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pic>
          <p:nvPicPr>
            <p:cNvPr id="111" name="Google Shape;110;p13" descr="image.png">
              <a:extLst>
                <a:ext uri="{FF2B5EF4-FFF2-40B4-BE49-F238E27FC236}">
                  <a16:creationId xmlns:a16="http://schemas.microsoft.com/office/drawing/2014/main" id="{9E423437-60E5-0825-52D9-EC5B935475A6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719644" y="4242933"/>
              <a:ext cx="467419" cy="444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1;p13" descr="image.png">
              <a:extLst>
                <a:ext uri="{FF2B5EF4-FFF2-40B4-BE49-F238E27FC236}">
                  <a16:creationId xmlns:a16="http://schemas.microsoft.com/office/drawing/2014/main" id="{B8E3D7A4-207F-BF4E-4B72-686AF7200E1B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719644" y="5388224"/>
              <a:ext cx="467419" cy="4447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8;p13" descr="image.png">
              <a:extLst>
                <a:ext uri="{FF2B5EF4-FFF2-40B4-BE49-F238E27FC236}">
                  <a16:creationId xmlns:a16="http://schemas.microsoft.com/office/drawing/2014/main" id="{2EA95016-65CA-F68B-1834-A783D2DC819C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7836499" y="4365246"/>
              <a:ext cx="233709" cy="200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9;p13">
              <a:extLst>
                <a:ext uri="{FF2B5EF4-FFF2-40B4-BE49-F238E27FC236}">
                  <a16:creationId xmlns:a16="http://schemas.microsoft.com/office/drawing/2014/main" id="{BE6BFCD7-DD1A-1922-C722-F8C3DD82B6BF}"/>
                </a:ext>
              </a:extLst>
            </p:cNvPr>
            <p:cNvSpPr txBox="1"/>
            <p:nvPr/>
          </p:nvSpPr>
          <p:spPr>
            <a:xfrm>
              <a:off x="8374031" y="4321737"/>
              <a:ext cx="5423226" cy="21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buClr>
                  <a:srgbClr val="000000"/>
                </a:buClr>
                <a:buFont typeface="Arial"/>
                <a:buNone/>
              </a:pP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20여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개의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기능적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세부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역량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평가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15" name="Google Shape;120;p13">
              <a:extLst>
                <a:ext uri="{FF2B5EF4-FFF2-40B4-BE49-F238E27FC236}">
                  <a16:creationId xmlns:a16="http://schemas.microsoft.com/office/drawing/2014/main" id="{59E6A5C0-6C4E-A72B-839E-A9A4B6C8F540}"/>
                </a:ext>
              </a:extLst>
            </p:cNvPr>
            <p:cNvSpPr txBox="1"/>
            <p:nvPr/>
          </p:nvSpPr>
          <p:spPr>
            <a:xfrm>
              <a:off x="8374031" y="4587632"/>
              <a:ext cx="5164978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lnSpc>
                  <a:spcPct val="15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비용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할당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데이터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분석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이상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탐지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약정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관리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등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FinOps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실무에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필요한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b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</a:b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구체적인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기능별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숙련도를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점검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pic>
          <p:nvPicPr>
            <p:cNvPr id="116" name="Google Shape;121;p13" descr="image.png">
              <a:extLst>
                <a:ext uri="{FF2B5EF4-FFF2-40B4-BE49-F238E27FC236}">
                  <a16:creationId xmlns:a16="http://schemas.microsoft.com/office/drawing/2014/main" id="{7C98A5CD-7995-93CF-41F1-83A6E8B06E19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7848185" y="5510537"/>
              <a:ext cx="210338" cy="200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22;p13">
              <a:extLst>
                <a:ext uri="{FF2B5EF4-FFF2-40B4-BE49-F238E27FC236}">
                  <a16:creationId xmlns:a16="http://schemas.microsoft.com/office/drawing/2014/main" id="{43C77D96-F4BF-4618-6076-66DB16400ACB}"/>
                </a:ext>
              </a:extLst>
            </p:cNvPr>
            <p:cNvSpPr txBox="1"/>
            <p:nvPr/>
          </p:nvSpPr>
          <p:spPr>
            <a:xfrm>
              <a:off x="8374031" y="5447886"/>
              <a:ext cx="5423226" cy="21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buClr>
                  <a:srgbClr val="000000"/>
                </a:buClr>
                <a:buFont typeface="Arial"/>
                <a:buNone/>
              </a:pP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강약점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분석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및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맞춤형</a:t>
              </a:r>
              <a:r>
                <a:rPr lang="en-US" sz="1425" b="1" kern="0" dirty="0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25" b="1" kern="0" dirty="0" err="1">
                  <a:solidFill>
                    <a:srgbClr val="0F172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가이드</a:t>
              </a:r>
              <a:endParaRPr sz="1400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  <p:sp>
          <p:nvSpPr>
            <p:cNvPr id="118" name="Google Shape;123;p13">
              <a:extLst>
                <a:ext uri="{FF2B5EF4-FFF2-40B4-BE49-F238E27FC236}">
                  <a16:creationId xmlns:a16="http://schemas.microsoft.com/office/drawing/2014/main" id="{1F5E14B1-C0B5-8001-B55F-39F4B579210E}"/>
                </a:ext>
              </a:extLst>
            </p:cNvPr>
            <p:cNvSpPr txBox="1"/>
            <p:nvPr/>
          </p:nvSpPr>
          <p:spPr>
            <a:xfrm>
              <a:off x="8374031" y="5732924"/>
              <a:ext cx="5164978" cy="600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atinLnBrk="0">
                <a:lnSpc>
                  <a:spcPct val="150000"/>
                </a:lnSpc>
                <a:buClr>
                  <a:srgbClr val="000000"/>
                </a:buClr>
                <a:buFont typeface="Arial"/>
                <a:buNone/>
              </a:pP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"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데이터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분석은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뛰어나나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최적화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실행력이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부족함"과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같이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명확한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진단을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200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통해</a:t>
              </a:r>
              <a: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br>
                <a:rPr lang="en-US" sz="1200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</a:b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팀별로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시급한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개선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포인트</a:t>
              </a:r>
              <a:r>
                <a:rPr lang="en-US" sz="1400" b="1" kern="0" dirty="0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 </a:t>
              </a:r>
              <a:r>
                <a:rPr lang="en-US" sz="1400" b="1" kern="0" dirty="0" err="1">
                  <a:solidFill>
                    <a:srgbClr val="475569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도출</a:t>
              </a:r>
              <a:endParaRPr sz="1400" b="1" kern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696B5A5-05AB-D1AB-83A5-ADBF8EA9C0AF}"/>
              </a:ext>
            </a:extLst>
          </p:cNvPr>
          <p:cNvGrpSpPr/>
          <p:nvPr/>
        </p:nvGrpSpPr>
        <p:grpSpPr>
          <a:xfrm>
            <a:off x="508000" y="7141842"/>
            <a:ext cx="13614400" cy="485545"/>
            <a:chOff x="508000" y="6712988"/>
            <a:chExt cx="13614400" cy="914400"/>
          </a:xfrm>
        </p:grpSpPr>
        <p:sp>
          <p:nvSpPr>
            <p:cNvPr id="120" name="Shape 31">
              <a:extLst>
                <a:ext uri="{FF2B5EF4-FFF2-40B4-BE49-F238E27FC236}">
                  <a16:creationId xmlns:a16="http://schemas.microsoft.com/office/drawing/2014/main" id="{50B6ECBB-0DE0-7007-8D97-F9DBA8D2F9EA}"/>
                </a:ext>
              </a:extLst>
            </p:cNvPr>
            <p:cNvSpPr/>
            <p:nvPr/>
          </p:nvSpPr>
          <p:spPr>
            <a:xfrm>
              <a:off x="508000" y="6712988"/>
              <a:ext cx="13614400" cy="914400"/>
            </a:xfrm>
            <a:prstGeom prst="roundRect">
              <a:avLst>
                <a:gd name="adj" fmla="val 10000"/>
              </a:avLst>
            </a:prstGeom>
            <a:solidFill>
              <a:srgbClr val="CCFBF1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21" name="Text 32">
              <a:extLst>
                <a:ext uri="{FF2B5EF4-FFF2-40B4-BE49-F238E27FC236}">
                  <a16:creationId xmlns:a16="http://schemas.microsoft.com/office/drawing/2014/main" id="{719349AA-BCE5-1F86-BC39-FD98BBFE33FD}"/>
                </a:ext>
              </a:extLst>
            </p:cNvPr>
            <p:cNvSpPr/>
            <p:nvPr/>
          </p:nvSpPr>
          <p:spPr>
            <a:xfrm>
              <a:off x="690880" y="6804428"/>
              <a:ext cx="13248640" cy="7315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3992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ko-KR" altLang="en-US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전사 평균 점수 집착하지 않기</a:t>
              </a:r>
              <a:r>
                <a:rPr kumimoji="0" lang="en-US" altLang="ko-KR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. </a:t>
              </a:r>
              <a:r>
                <a:rPr kumimoji="0" lang="ko-KR" altLang="en-US" sz="13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가장 클라우드 비용이 높은 부서</a:t>
              </a:r>
              <a:r>
                <a:rPr kumimoji="0" lang="ko-KR" altLang="en-US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를 우선 </a:t>
              </a:r>
              <a:r>
                <a:rPr kumimoji="0" lang="ko-KR" altLang="en-US" sz="135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타겟팅하여</a:t>
              </a:r>
              <a:r>
                <a:rPr kumimoji="0" lang="en-US" altLang="ko-KR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, </a:t>
              </a:r>
              <a:r>
                <a:rPr kumimoji="0" lang="ko-KR" altLang="en-US" sz="13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비용 가시성 확보</a:t>
              </a:r>
              <a:r>
                <a:rPr kumimoji="0" lang="en-US" altLang="ko-KR" sz="135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(Capability)</a:t>
              </a:r>
              <a:r>
                <a:rPr kumimoji="0" lang="ko-KR" altLang="en-US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부터 단기간</a:t>
              </a:r>
              <a:r>
                <a:rPr kumimoji="0" lang="en-US" altLang="ko-KR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(3~6</a:t>
              </a:r>
              <a:r>
                <a:rPr kumimoji="0" lang="ko-KR" altLang="en-US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개월</a:t>
              </a:r>
              <a:r>
                <a:rPr kumimoji="0" lang="en-US" altLang="ko-KR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) </a:t>
              </a:r>
              <a:r>
                <a:rPr kumimoji="0" lang="ko-KR" altLang="en-US" sz="135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sym typeface="Noto Sans KR"/>
                </a:rPr>
                <a:t>내에 달성하는 것이 핵심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7955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662D-0737-35F7-15FF-C3A1E472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02CE94D6-D384-93FA-26A9-7512567E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567" y="99294"/>
            <a:ext cx="13738860" cy="806714"/>
          </a:xfrm>
        </p:spPr>
        <p:txBody>
          <a:bodyPr/>
          <a:lstStyle/>
          <a:p>
            <a:r>
              <a:rPr lang="en-US" altLang="ko-KR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</a:t>
            </a:r>
            <a:r>
              <a:rPr lang="ko-KR" altLang="en-US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성숙도 진단과 최신 트렌드 적용</a:t>
            </a:r>
            <a:r>
              <a:rPr lang="en-US" altLang="ko-KR" b="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b="0" dirty="0">
                <a:solidFill>
                  <a:prstClr val="black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FinOps Framework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</a:t>
            </a:r>
            <a:r>
              <a:rPr lang="en-US" altLang="ko-KR" sz="3200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3200" dirty="0" err="1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업데이트</a:t>
            </a:r>
            <a:endParaRPr lang="en-US" altLang="ko-KR" sz="3200" dirty="0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19A64128-EB6A-29FF-1AD0-50A31F7A6B88}"/>
              </a:ext>
            </a:extLst>
          </p:cNvPr>
          <p:cNvSpPr/>
          <p:nvPr/>
        </p:nvSpPr>
        <p:spPr>
          <a:xfrm>
            <a:off x="509567" y="3358996"/>
            <a:ext cx="6680200" cy="204234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4303EB9-8799-69B0-ECCE-ED1C3733ECC8}"/>
              </a:ext>
            </a:extLst>
          </p:cNvPr>
          <p:cNvSpPr/>
          <p:nvPr/>
        </p:nvSpPr>
        <p:spPr>
          <a:xfrm>
            <a:off x="509567" y="3358996"/>
            <a:ext cx="6680200" cy="482600"/>
          </a:xfrm>
          <a:prstGeom prst="rect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B3A9593-44B6-5717-E516-F18BE5E466B4}"/>
              </a:ext>
            </a:extLst>
          </p:cNvPr>
          <p:cNvSpPr/>
          <p:nvPr/>
        </p:nvSpPr>
        <p:spPr>
          <a:xfrm>
            <a:off x="611167" y="3435196"/>
            <a:ext cx="6477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Scopes의 도입 (2025)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1286E24-B2A0-1A3F-12C2-D09E2FC06928}"/>
              </a:ext>
            </a:extLst>
          </p:cNvPr>
          <p:cNvSpPr/>
          <p:nvPr/>
        </p:nvSpPr>
        <p:spPr>
          <a:xfrm>
            <a:off x="636567" y="3892396"/>
            <a:ext cx="6426200" cy="1819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Scope: 기술 관련 지출의 세분화된 영역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 구조에 정렬된 의사결정 맥락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정의된 Scope: Public Cloud, SaaS, Data Center, AI, Licensing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조직별로 Private Cloud 등 고유 Scope 추가 가능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D4619C4-3DFE-66D1-0ECF-4A682EFB3542}"/>
              </a:ext>
            </a:extLst>
          </p:cNvPr>
          <p:cNvSpPr/>
          <p:nvPr/>
        </p:nvSpPr>
        <p:spPr>
          <a:xfrm>
            <a:off x="7443767" y="3358996"/>
            <a:ext cx="6680200" cy="204234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EEB3C354-BE22-453C-ECE2-A80364F34B1C}"/>
              </a:ext>
            </a:extLst>
          </p:cNvPr>
          <p:cNvSpPr/>
          <p:nvPr/>
        </p:nvSpPr>
        <p:spPr>
          <a:xfrm>
            <a:off x="7443767" y="3358996"/>
            <a:ext cx="6680200" cy="482600"/>
          </a:xfrm>
          <a:prstGeom prst="rect">
            <a:avLst/>
          </a:prstGeom>
          <a:solidFill>
            <a:srgbClr val="1A6E36"/>
          </a:solidFill>
          <a:ln/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D58EC267-EE8C-1C7D-99EB-0341592B7557}"/>
              </a:ext>
            </a:extLst>
          </p:cNvPr>
          <p:cNvSpPr/>
          <p:nvPr/>
        </p:nvSpPr>
        <p:spPr>
          <a:xfrm>
            <a:off x="7545367" y="3435196"/>
            <a:ext cx="6477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Cloud+ 확장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B607C6-14AE-DFDB-2259-5B1F4E6B83BF}"/>
              </a:ext>
            </a:extLst>
          </p:cNvPr>
          <p:cNvSpPr/>
          <p:nvPr/>
        </p:nvSpPr>
        <p:spPr>
          <a:xfrm>
            <a:off x="7570767" y="3892396"/>
            <a:ext cx="6426200" cy="1819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퍼블릭 클라우드를 넘어 전체 기술 비용 관리로 확장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SaaS 관리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90% (2025년 65%)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라이선싱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64% (15%p 증가)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프라이빗 클라우드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57% (18%p 증가)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데이터센터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48% (12%p 증가)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3F34EB0-438C-B46E-79F0-F48E7AB2E5A8}"/>
              </a:ext>
            </a:extLst>
          </p:cNvPr>
          <p:cNvSpPr/>
          <p:nvPr/>
        </p:nvSpPr>
        <p:spPr>
          <a:xfrm>
            <a:off x="511134" y="5576024"/>
            <a:ext cx="6680200" cy="17696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92972F-A1E4-4946-3DBE-67548FB5BA82}"/>
              </a:ext>
            </a:extLst>
          </p:cNvPr>
          <p:cNvSpPr/>
          <p:nvPr/>
        </p:nvSpPr>
        <p:spPr>
          <a:xfrm>
            <a:off x="511134" y="5576024"/>
            <a:ext cx="6680200" cy="482600"/>
          </a:xfrm>
          <a:prstGeom prst="rect">
            <a:avLst/>
          </a:prstGeom>
          <a:solidFill>
            <a:srgbClr val="C0530A"/>
          </a:solidFill>
          <a:ln/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1482B50-3CE3-22B7-FC22-EDEC5C54C239}"/>
              </a:ext>
            </a:extLst>
          </p:cNvPr>
          <p:cNvSpPr/>
          <p:nvPr/>
        </p:nvSpPr>
        <p:spPr>
          <a:xfrm>
            <a:off x="612734" y="5652224"/>
            <a:ext cx="6477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Executive Strategy Alignment (2026 신규)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D01561D-0051-9F86-2631-1CD370EF06E3}"/>
              </a:ext>
            </a:extLst>
          </p:cNvPr>
          <p:cNvSpPr/>
          <p:nvPr/>
        </p:nvSpPr>
        <p:spPr>
          <a:xfrm>
            <a:off x="638134" y="6244102"/>
            <a:ext cx="6426200" cy="1456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팀의 78% 이상이 CTO/CIO 직속 보고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FinOps가 비용 보고 기능에서 </a:t>
            </a: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전략적 기술 역량으로 재위치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아키텍처 리뷰, 벤더 선정, 투자 의사결정에 FinOps 리더 참여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7A680D2-BAEA-CB3E-1BC3-0A570902244A}"/>
              </a:ext>
            </a:extLst>
          </p:cNvPr>
          <p:cNvSpPr/>
          <p:nvPr/>
        </p:nvSpPr>
        <p:spPr>
          <a:xfrm>
            <a:off x="7445334" y="5576024"/>
            <a:ext cx="6680200" cy="1769683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0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C7A7788-8D7A-E442-59AB-A917E36FB89C}"/>
              </a:ext>
            </a:extLst>
          </p:cNvPr>
          <p:cNvSpPr/>
          <p:nvPr/>
        </p:nvSpPr>
        <p:spPr>
          <a:xfrm>
            <a:off x="7445334" y="5576024"/>
            <a:ext cx="6680200" cy="4826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C18EF86-E12D-E5CA-CEF6-860ECA250D94}"/>
              </a:ext>
            </a:extLst>
          </p:cNvPr>
          <p:cNvSpPr/>
          <p:nvPr/>
        </p:nvSpPr>
        <p:spPr>
          <a:xfrm>
            <a:off x="7546934" y="5652224"/>
            <a:ext cx="6477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FinOps for AI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12592BF-4758-ACFC-F850-91C9D6951BA8}"/>
              </a:ext>
            </a:extLst>
          </p:cNvPr>
          <p:cNvSpPr/>
          <p:nvPr/>
        </p:nvSpPr>
        <p:spPr>
          <a:xfrm>
            <a:off x="7572334" y="6244102"/>
            <a:ext cx="6426200" cy="14566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98% 응답자가 AI 지출 관리 중</a:t>
            </a: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(2024 31% → 2025 63% → 2026 98%)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AI 비용 관리 = FinOps 팀이 추가하고자 하는 역량 1순위 (58%)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과제: AI 워크로드의 낮은 가격 투명성, 높은 변동성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59636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GPU 활용률·LLM 호출 비용 등 AI 특화 메트릭 발전 중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6" name="그림 25">
            <a:hlinkClick r:id="rId3"/>
            <a:extLst>
              <a:ext uri="{FF2B5EF4-FFF2-40B4-BE49-F238E27FC236}">
                <a16:creationId xmlns:a16="http://schemas.microsoft.com/office/drawing/2014/main" id="{4F097F9B-1693-F7C5-13B3-569358B44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629" y="1294709"/>
            <a:ext cx="6757277" cy="1823764"/>
          </a:xfrm>
          <a:prstGeom prst="rect">
            <a:avLst/>
          </a:prstGeom>
        </p:spPr>
      </p:pic>
      <p:sp>
        <p:nvSpPr>
          <p:cNvPr id="27" name="Text 8">
            <a:hlinkClick r:id="rId5"/>
            <a:extLst>
              <a:ext uri="{FF2B5EF4-FFF2-40B4-BE49-F238E27FC236}">
                <a16:creationId xmlns:a16="http://schemas.microsoft.com/office/drawing/2014/main" id="{4C4EE41B-9C90-2614-4C96-913BC976A15A}"/>
              </a:ext>
            </a:extLst>
          </p:cNvPr>
          <p:cNvSpPr/>
          <p:nvPr/>
        </p:nvSpPr>
        <p:spPr>
          <a:xfrm>
            <a:off x="509567" y="7457729"/>
            <a:ext cx="5819461" cy="2324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FinOps 2025 </a:t>
            </a:r>
            <a:r>
              <a:rPr lang="ko-KR" altLang="en-US" sz="1400" dirty="0" err="1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레포트</a:t>
            </a:r>
            <a:r>
              <a:rPr lang="ko-KR" altLang="en-US" sz="1400" dirty="0">
                <a:solidFill>
                  <a:srgbClr val="50506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 보기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1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1442" y="2796740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dirty="0">
                <a:solidFill>
                  <a:srgbClr val="1B1B27"/>
                </a:solidFill>
                <a:latin typeface="맑은 고딕"/>
                <a:ea typeface="맑은 고딕"/>
                <a:cs typeface="Pretendard" panose="02000503000000020004" pitchFamily="50" charset="-127"/>
              </a:rPr>
              <a:t>Q&amp;A</a:t>
            </a:r>
            <a:endParaRPr lang="en-US" sz="13350" dirty="0">
              <a:latin typeface="맑은 고딕"/>
              <a:ea typeface="맑은 고딕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[필수] 강의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[필수] 내용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[필수] 레슨명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1138F2-2869-43EB-AC95-91E880771805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21080</TotalTime>
  <Words>3748</Words>
  <Application>Microsoft Macintosh PowerPoint</Application>
  <PresentationFormat>사용자 지정</PresentationFormat>
  <Paragraphs>712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맑은 고딕</vt:lpstr>
      <vt:lpstr>Pretendard Medium</vt:lpstr>
      <vt:lpstr>Pretendard</vt:lpstr>
      <vt:lpstr>Arial</vt:lpstr>
      <vt:lpstr>Noto Sans KR</vt:lpstr>
      <vt:lpstr>Pretendard SemiBold</vt:lpstr>
      <vt:lpstr>[필수] 강의명</vt:lpstr>
      <vt:lpstr>[필수] 레슨명</vt:lpstr>
      <vt:lpstr>[필수] 내용</vt:lpstr>
      <vt:lpstr>1_[필수] 레슨명</vt:lpstr>
      <vt:lpstr>PowerPoint 프레젠테이션</vt:lpstr>
      <vt:lpstr>PowerPoint 프레젠테이션</vt:lpstr>
      <vt:lpstr>1. FinOps 개요: 정의와 필요성</vt:lpstr>
      <vt:lpstr>1. FinOps 개요: 골든써클</vt:lpstr>
      <vt:lpstr>1. FinOps 개요: FinOps 6대 원칙</vt:lpstr>
      <vt:lpstr>1. FinOps 개요: FinOps 3가지 전략</vt:lpstr>
      <vt:lpstr>2. 보이기(Inform): 이상 비용 탐지 체계</vt:lpstr>
      <vt:lpstr>2. 보이기(Inform) — 태그 기반 비용 추적/할당</vt:lpstr>
      <vt:lpstr>[별첨] Amortized(분할 상환) 방식</vt:lpstr>
      <vt:lpstr>3. 줄이기(Optimize) — 미사용 리소스 제거 및 Right-sizing</vt:lpstr>
      <vt:lpstr>3. 줄이기(Optimize) — 스케일링 정책 최적화</vt:lpstr>
      <vt:lpstr>3. 줄이기(Optimize) — 약정할인 의사결정</vt:lpstr>
      <vt:lpstr>4. 체계화(Operate) — FinOps 자동화</vt:lpstr>
      <vt:lpstr>4. 체계화(Operate) — 단위 경제(Unit Economics)와 KPI 설계</vt:lpstr>
      <vt:lpstr>4. 체계화(Operate) — 협업문화와 거버넌스 체계</vt:lpstr>
      <vt:lpstr>5. 성숙도 진단과 최신 트렌드 적용: FinOps 성숙도 모델</vt:lpstr>
      <vt:lpstr>[별첨] FinOps 성숙도 모델 중요 변화</vt:lpstr>
      <vt:lpstr>5. 성숙도 진단과 최신 트렌드 적용: FinOps Framework 주요 업데이트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이해경</dc:creator>
  <cp:lastModifiedBy>해경 이</cp:lastModifiedBy>
  <cp:revision>1364</cp:revision>
  <cp:lastPrinted>2026-04-08T05:21:44Z</cp:lastPrinted>
  <dcterms:created xsi:type="dcterms:W3CDTF">2025-12-11T09:31:54Z</dcterms:created>
  <dcterms:modified xsi:type="dcterms:W3CDTF">2026-05-21T03:01:17Z</dcterms:modified>
</cp:coreProperties>
</file>